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18"/>
  </p:notesMasterIdLst>
  <p:sldIdLst>
    <p:sldId id="273"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 id="274" r:id="rId16"/>
    <p:sldId id="272" r:id="rId17"/>
  </p:sldIdLst>
  <p:sldSz cx="9144000" cy="5143500" type="screen16x9"/>
  <p:notesSz cx="6858000" cy="9144000"/>
  <p:embeddedFontLst>
    <p:embeddedFont>
      <p:font typeface="EB Garamond" panose="00000500000000000000" pitchFamily="2" charset="0"/>
      <p:regular r:id="rId19"/>
      <p:bold r:id="rId20"/>
      <p:italic r:id="rId21"/>
      <p:boldItalic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000000"/>
          </p15:clr>
        </p15:guide>
        <p15:guide id="2" pos="2880">
          <p15:clr>
            <a:srgbClr val="000000"/>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8" roundtripDataSignature="AMtx7mgsB5ApxF7F6L90PygU+wZCZRlho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7BA896C-5A56-4E20-B309-1431A78C2CCE}">
  <a:tblStyle styleId="{97BA896C-5A56-4E20-B309-1431A78C2CCE}"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7" d="100"/>
          <a:sy n="107" d="100"/>
        </p:scale>
        <p:origin x="754"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8" Type="http://customschemas.google.com/relationships/presentationmetadata" Target="metadata"/><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2"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2"/>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a:t>
            </a:fld>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 name="Google Shape;86;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24549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 name="Google Shape;94;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2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 name="Google Shape;101;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3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5" name="Google Shape;11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2" name="Google Shape;12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0" name="Google Shape;130;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8" name="Google Shape;138;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6" name="Google Shape;146;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4" name="Google Shape;154;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3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2" name="Google Shape;162;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3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9" name="Google Shape;169;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3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6" name="Google Shape;176;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2" name="Google Shape;192;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7" name="Google Shape;207;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7"/>
          <p:cNvSpPr txBox="1">
            <a:spLocks noGrp="1"/>
          </p:cNvSpPr>
          <p:nvPr>
            <p:ph type="ctrTitle"/>
          </p:nvPr>
        </p:nvSpPr>
        <p:spPr>
          <a:xfrm>
            <a:off x="685800" y="1597819"/>
            <a:ext cx="7772400" cy="1102519"/>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7" name="Google Shape;17;p17"/>
          <p:cNvSpPr txBox="1">
            <a:spLocks noGrp="1"/>
          </p:cNvSpPr>
          <p:nvPr>
            <p:ph type="subTitle" idx="1"/>
          </p:nvPr>
        </p:nvSpPr>
        <p:spPr>
          <a:xfrm>
            <a:off x="1371600" y="2914650"/>
            <a:ext cx="6400800" cy="131445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18" name="Google Shape;18;p17"/>
          <p:cNvSpPr txBox="1">
            <a:spLocks noGrp="1"/>
          </p:cNvSpPr>
          <p:nvPr>
            <p:ph type="dt" idx="10"/>
          </p:nvPr>
        </p:nvSpPr>
        <p:spPr>
          <a:xfrm>
            <a:off x="457200" y="4767262"/>
            <a:ext cx="2133600" cy="274637"/>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17"/>
          <p:cNvSpPr txBox="1">
            <a:spLocks noGrp="1"/>
          </p:cNvSpPr>
          <p:nvPr>
            <p:ph type="ftr" idx="11"/>
          </p:nvPr>
        </p:nvSpPr>
        <p:spPr>
          <a:xfrm>
            <a:off x="3124200" y="4767262"/>
            <a:ext cx="2895600" cy="274637"/>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17"/>
          <p:cNvSpPr txBox="1">
            <a:spLocks noGrp="1"/>
          </p:cNvSpPr>
          <p:nvPr>
            <p:ph type="sldNum" idx="12"/>
          </p:nvPr>
        </p:nvSpPr>
        <p:spPr>
          <a:xfrm>
            <a:off x="6553200" y="4767262"/>
            <a:ext cx="2133600" cy="274637"/>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18"/>
          <p:cNvSpPr txBox="1">
            <a:spLocks noGrp="1"/>
          </p:cNvSpPr>
          <p:nvPr>
            <p:ph type="title"/>
          </p:nvPr>
        </p:nvSpPr>
        <p:spPr>
          <a:xfrm>
            <a:off x="457200" y="206375"/>
            <a:ext cx="8229600" cy="85725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3" name="Google Shape;23;p18"/>
          <p:cNvSpPr txBox="1">
            <a:spLocks noGrp="1"/>
          </p:cNvSpPr>
          <p:nvPr>
            <p:ph type="body" idx="1"/>
          </p:nvPr>
        </p:nvSpPr>
        <p:spPr>
          <a:xfrm>
            <a:off x="457200" y="1200150"/>
            <a:ext cx="8229600" cy="339407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4" name="Google Shape;24;p18"/>
          <p:cNvSpPr txBox="1">
            <a:spLocks noGrp="1"/>
          </p:cNvSpPr>
          <p:nvPr>
            <p:ph type="dt" idx="10"/>
          </p:nvPr>
        </p:nvSpPr>
        <p:spPr>
          <a:xfrm>
            <a:off x="457200" y="4767262"/>
            <a:ext cx="2133600" cy="274637"/>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18"/>
          <p:cNvSpPr txBox="1">
            <a:spLocks noGrp="1"/>
          </p:cNvSpPr>
          <p:nvPr>
            <p:ph type="ftr" idx="11"/>
          </p:nvPr>
        </p:nvSpPr>
        <p:spPr>
          <a:xfrm>
            <a:off x="3124200" y="4767262"/>
            <a:ext cx="2895600" cy="274637"/>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18"/>
          <p:cNvSpPr txBox="1">
            <a:spLocks noGrp="1"/>
          </p:cNvSpPr>
          <p:nvPr>
            <p:ph type="sldNum" idx="12"/>
          </p:nvPr>
        </p:nvSpPr>
        <p:spPr>
          <a:xfrm>
            <a:off x="6553200" y="4767262"/>
            <a:ext cx="2133600" cy="274637"/>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7"/>
        <p:cNvGrpSpPr/>
        <p:nvPr/>
      </p:nvGrpSpPr>
      <p:grpSpPr>
        <a:xfrm>
          <a:off x="0" y="0"/>
          <a:ext cx="0" cy="0"/>
          <a:chOff x="0" y="0"/>
          <a:chExt cx="0" cy="0"/>
        </a:xfrm>
      </p:grpSpPr>
      <p:sp>
        <p:nvSpPr>
          <p:cNvPr id="28" name="Google Shape;28;p19"/>
          <p:cNvSpPr txBox="1">
            <a:spLocks noGrp="1"/>
          </p:cNvSpPr>
          <p:nvPr>
            <p:ph type="title"/>
          </p:nvPr>
        </p:nvSpPr>
        <p:spPr>
          <a:xfrm rot="5400000">
            <a:off x="5463778" y="1371601"/>
            <a:ext cx="4388644" cy="2057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9" name="Google Shape;29;p19"/>
          <p:cNvSpPr txBox="1">
            <a:spLocks noGrp="1"/>
          </p:cNvSpPr>
          <p:nvPr>
            <p:ph type="body" idx="1"/>
          </p:nvPr>
        </p:nvSpPr>
        <p:spPr>
          <a:xfrm rot="5400000">
            <a:off x="1272778" y="-609599"/>
            <a:ext cx="4388644" cy="60198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30" name="Google Shape;30;p19"/>
          <p:cNvSpPr txBox="1">
            <a:spLocks noGrp="1"/>
          </p:cNvSpPr>
          <p:nvPr>
            <p:ph type="dt" idx="10"/>
          </p:nvPr>
        </p:nvSpPr>
        <p:spPr>
          <a:xfrm>
            <a:off x="457200" y="4767262"/>
            <a:ext cx="2133600" cy="274637"/>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9"/>
          <p:cNvSpPr txBox="1">
            <a:spLocks noGrp="1"/>
          </p:cNvSpPr>
          <p:nvPr>
            <p:ph type="ftr" idx="11"/>
          </p:nvPr>
        </p:nvSpPr>
        <p:spPr>
          <a:xfrm>
            <a:off x="3124200" y="4767262"/>
            <a:ext cx="2895600" cy="274637"/>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19"/>
          <p:cNvSpPr txBox="1">
            <a:spLocks noGrp="1"/>
          </p:cNvSpPr>
          <p:nvPr>
            <p:ph type="sldNum" idx="12"/>
          </p:nvPr>
        </p:nvSpPr>
        <p:spPr>
          <a:xfrm>
            <a:off x="6553200" y="4767262"/>
            <a:ext cx="2133600" cy="274637"/>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33"/>
        <p:cNvGrpSpPr/>
        <p:nvPr/>
      </p:nvGrpSpPr>
      <p:grpSpPr>
        <a:xfrm>
          <a:off x="0" y="0"/>
          <a:ext cx="0" cy="0"/>
          <a:chOff x="0" y="0"/>
          <a:chExt cx="0" cy="0"/>
        </a:xfrm>
      </p:grpSpPr>
      <p:sp>
        <p:nvSpPr>
          <p:cNvPr id="34" name="Google Shape;34;p20"/>
          <p:cNvSpPr txBox="1">
            <a:spLocks noGrp="1"/>
          </p:cNvSpPr>
          <p:nvPr>
            <p:ph type="title"/>
          </p:nvPr>
        </p:nvSpPr>
        <p:spPr>
          <a:xfrm>
            <a:off x="457200" y="206375"/>
            <a:ext cx="8229600" cy="85725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5" name="Google Shape;35;p20"/>
          <p:cNvSpPr txBox="1">
            <a:spLocks noGrp="1"/>
          </p:cNvSpPr>
          <p:nvPr>
            <p:ph type="body" idx="1"/>
          </p:nvPr>
        </p:nvSpPr>
        <p:spPr>
          <a:xfrm rot="5400000">
            <a:off x="2874963" y="-1217612"/>
            <a:ext cx="3394075" cy="82296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36" name="Google Shape;36;p20"/>
          <p:cNvSpPr txBox="1">
            <a:spLocks noGrp="1"/>
          </p:cNvSpPr>
          <p:nvPr>
            <p:ph type="dt" idx="10"/>
          </p:nvPr>
        </p:nvSpPr>
        <p:spPr>
          <a:xfrm>
            <a:off x="457200" y="4767262"/>
            <a:ext cx="2133600" cy="274637"/>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0"/>
          <p:cNvSpPr txBox="1">
            <a:spLocks noGrp="1"/>
          </p:cNvSpPr>
          <p:nvPr>
            <p:ph type="ftr" idx="11"/>
          </p:nvPr>
        </p:nvSpPr>
        <p:spPr>
          <a:xfrm>
            <a:off x="3124200" y="4767262"/>
            <a:ext cx="2895600" cy="274637"/>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0"/>
          <p:cNvSpPr txBox="1">
            <a:spLocks noGrp="1"/>
          </p:cNvSpPr>
          <p:nvPr>
            <p:ph type="sldNum" idx="12"/>
          </p:nvPr>
        </p:nvSpPr>
        <p:spPr>
          <a:xfrm>
            <a:off x="6553200" y="4767262"/>
            <a:ext cx="2133600" cy="274637"/>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9"/>
        <p:cNvGrpSpPr/>
        <p:nvPr/>
      </p:nvGrpSpPr>
      <p:grpSpPr>
        <a:xfrm>
          <a:off x="0" y="0"/>
          <a:ext cx="0" cy="0"/>
          <a:chOff x="0" y="0"/>
          <a:chExt cx="0" cy="0"/>
        </a:xfrm>
      </p:grpSpPr>
      <p:sp>
        <p:nvSpPr>
          <p:cNvPr id="40" name="Google Shape;40;p21"/>
          <p:cNvSpPr txBox="1">
            <a:spLocks noGrp="1"/>
          </p:cNvSpPr>
          <p:nvPr>
            <p:ph type="title"/>
          </p:nvPr>
        </p:nvSpPr>
        <p:spPr>
          <a:xfrm>
            <a:off x="1792288" y="3600450"/>
            <a:ext cx="5486400" cy="425054"/>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sz="2000" b="1"/>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1" name="Google Shape;41;p21"/>
          <p:cNvSpPr>
            <a:spLocks noGrp="1"/>
          </p:cNvSpPr>
          <p:nvPr>
            <p:ph type="pic" idx="2"/>
          </p:nvPr>
        </p:nvSpPr>
        <p:spPr>
          <a:xfrm>
            <a:off x="1792288" y="459581"/>
            <a:ext cx="5486400" cy="3086100"/>
          </a:xfrm>
          <a:prstGeom prst="rect">
            <a:avLst/>
          </a:prstGeom>
          <a:noFill/>
          <a:ln>
            <a:noFill/>
          </a:ln>
        </p:spPr>
      </p:sp>
      <p:sp>
        <p:nvSpPr>
          <p:cNvPr id="42" name="Google Shape;42;p21"/>
          <p:cNvSpPr txBox="1">
            <a:spLocks noGrp="1"/>
          </p:cNvSpPr>
          <p:nvPr>
            <p:ph type="body" idx="1"/>
          </p:nvPr>
        </p:nvSpPr>
        <p:spPr>
          <a:xfrm>
            <a:off x="1792288" y="4025503"/>
            <a:ext cx="5486400" cy="6036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43" name="Google Shape;43;p21"/>
          <p:cNvSpPr txBox="1">
            <a:spLocks noGrp="1"/>
          </p:cNvSpPr>
          <p:nvPr>
            <p:ph type="dt" idx="10"/>
          </p:nvPr>
        </p:nvSpPr>
        <p:spPr>
          <a:xfrm>
            <a:off x="457200" y="4767262"/>
            <a:ext cx="2133600" cy="274637"/>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21"/>
          <p:cNvSpPr txBox="1">
            <a:spLocks noGrp="1"/>
          </p:cNvSpPr>
          <p:nvPr>
            <p:ph type="ftr" idx="11"/>
          </p:nvPr>
        </p:nvSpPr>
        <p:spPr>
          <a:xfrm>
            <a:off x="3124200" y="4767262"/>
            <a:ext cx="2895600" cy="274637"/>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21"/>
          <p:cNvSpPr txBox="1">
            <a:spLocks noGrp="1"/>
          </p:cNvSpPr>
          <p:nvPr>
            <p:ph type="sldNum" idx="12"/>
          </p:nvPr>
        </p:nvSpPr>
        <p:spPr>
          <a:xfrm>
            <a:off x="6553200" y="4767262"/>
            <a:ext cx="2133600" cy="274637"/>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6"/>
        <p:cNvGrpSpPr/>
        <p:nvPr/>
      </p:nvGrpSpPr>
      <p:grpSpPr>
        <a:xfrm>
          <a:off x="0" y="0"/>
          <a:ext cx="0" cy="0"/>
          <a:chOff x="0" y="0"/>
          <a:chExt cx="0" cy="0"/>
        </a:xfrm>
      </p:grpSpPr>
      <p:sp>
        <p:nvSpPr>
          <p:cNvPr id="47" name="Google Shape;47;p22"/>
          <p:cNvSpPr txBox="1">
            <a:spLocks noGrp="1"/>
          </p:cNvSpPr>
          <p:nvPr>
            <p:ph type="title"/>
          </p:nvPr>
        </p:nvSpPr>
        <p:spPr>
          <a:xfrm>
            <a:off x="457201" y="204787"/>
            <a:ext cx="3008313" cy="871538"/>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sz="2000" b="1"/>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8" name="Google Shape;48;p22"/>
          <p:cNvSpPr txBox="1">
            <a:spLocks noGrp="1"/>
          </p:cNvSpPr>
          <p:nvPr>
            <p:ph type="body" idx="1"/>
          </p:nvPr>
        </p:nvSpPr>
        <p:spPr>
          <a:xfrm>
            <a:off x="3575050" y="204788"/>
            <a:ext cx="5111750" cy="4389835"/>
          </a:xfrm>
          <a:prstGeom prst="rect">
            <a:avLst/>
          </a:prstGeom>
          <a:noFill/>
          <a:ln>
            <a:noFill/>
          </a:ln>
        </p:spPr>
        <p:txBody>
          <a:bodyPr spcFirstLastPara="1" wrap="square" lIns="91425" tIns="45700" rIns="91425" bIns="45700" anchor="t" anchorCtr="0">
            <a:no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49" name="Google Shape;49;p22"/>
          <p:cNvSpPr txBox="1">
            <a:spLocks noGrp="1"/>
          </p:cNvSpPr>
          <p:nvPr>
            <p:ph type="body" idx="2"/>
          </p:nvPr>
        </p:nvSpPr>
        <p:spPr>
          <a:xfrm>
            <a:off x="457201" y="1076326"/>
            <a:ext cx="3008313" cy="351829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50" name="Google Shape;50;p22"/>
          <p:cNvSpPr txBox="1">
            <a:spLocks noGrp="1"/>
          </p:cNvSpPr>
          <p:nvPr>
            <p:ph type="dt" idx="10"/>
          </p:nvPr>
        </p:nvSpPr>
        <p:spPr>
          <a:xfrm>
            <a:off x="457200" y="4767262"/>
            <a:ext cx="2133600" cy="274637"/>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2"/>
          <p:cNvSpPr txBox="1">
            <a:spLocks noGrp="1"/>
          </p:cNvSpPr>
          <p:nvPr>
            <p:ph type="ftr" idx="11"/>
          </p:nvPr>
        </p:nvSpPr>
        <p:spPr>
          <a:xfrm>
            <a:off x="3124200" y="4767262"/>
            <a:ext cx="2895600" cy="274637"/>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2"/>
          <p:cNvSpPr txBox="1">
            <a:spLocks noGrp="1"/>
          </p:cNvSpPr>
          <p:nvPr>
            <p:ph type="sldNum" idx="12"/>
          </p:nvPr>
        </p:nvSpPr>
        <p:spPr>
          <a:xfrm>
            <a:off x="6553200" y="4767262"/>
            <a:ext cx="2133600" cy="274637"/>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23"/>
          <p:cNvSpPr txBox="1">
            <a:spLocks noGrp="1"/>
          </p:cNvSpPr>
          <p:nvPr>
            <p:ph type="dt" idx="10"/>
          </p:nvPr>
        </p:nvSpPr>
        <p:spPr>
          <a:xfrm>
            <a:off x="457200" y="4767262"/>
            <a:ext cx="2133600" cy="274637"/>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3"/>
          <p:cNvSpPr txBox="1">
            <a:spLocks noGrp="1"/>
          </p:cNvSpPr>
          <p:nvPr>
            <p:ph type="ftr" idx="11"/>
          </p:nvPr>
        </p:nvSpPr>
        <p:spPr>
          <a:xfrm>
            <a:off x="3124200" y="4767262"/>
            <a:ext cx="2895600" cy="274637"/>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3"/>
          <p:cNvSpPr txBox="1">
            <a:spLocks noGrp="1"/>
          </p:cNvSpPr>
          <p:nvPr>
            <p:ph type="sldNum" idx="12"/>
          </p:nvPr>
        </p:nvSpPr>
        <p:spPr>
          <a:xfrm>
            <a:off x="6553200" y="4767262"/>
            <a:ext cx="2133600" cy="274637"/>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7"/>
        <p:cNvGrpSpPr/>
        <p:nvPr/>
      </p:nvGrpSpPr>
      <p:grpSpPr>
        <a:xfrm>
          <a:off x="0" y="0"/>
          <a:ext cx="0" cy="0"/>
          <a:chOff x="0" y="0"/>
          <a:chExt cx="0" cy="0"/>
        </a:xfrm>
      </p:grpSpPr>
      <p:sp>
        <p:nvSpPr>
          <p:cNvPr id="58" name="Google Shape;58;p24"/>
          <p:cNvSpPr txBox="1">
            <a:spLocks noGrp="1"/>
          </p:cNvSpPr>
          <p:nvPr>
            <p:ph type="title"/>
          </p:nvPr>
        </p:nvSpPr>
        <p:spPr>
          <a:xfrm>
            <a:off x="457200" y="206375"/>
            <a:ext cx="8229600" cy="85725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59" name="Google Shape;59;p24"/>
          <p:cNvSpPr txBox="1">
            <a:spLocks noGrp="1"/>
          </p:cNvSpPr>
          <p:nvPr>
            <p:ph type="dt" idx="10"/>
          </p:nvPr>
        </p:nvSpPr>
        <p:spPr>
          <a:xfrm>
            <a:off x="457200" y="4767262"/>
            <a:ext cx="2133600" cy="274637"/>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24"/>
          <p:cNvSpPr txBox="1">
            <a:spLocks noGrp="1"/>
          </p:cNvSpPr>
          <p:nvPr>
            <p:ph type="ftr" idx="11"/>
          </p:nvPr>
        </p:nvSpPr>
        <p:spPr>
          <a:xfrm>
            <a:off x="3124200" y="4767262"/>
            <a:ext cx="2895600" cy="274637"/>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24"/>
          <p:cNvSpPr txBox="1">
            <a:spLocks noGrp="1"/>
          </p:cNvSpPr>
          <p:nvPr>
            <p:ph type="sldNum" idx="12"/>
          </p:nvPr>
        </p:nvSpPr>
        <p:spPr>
          <a:xfrm>
            <a:off x="6553200" y="4767262"/>
            <a:ext cx="2133600" cy="274637"/>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62"/>
        <p:cNvGrpSpPr/>
        <p:nvPr/>
      </p:nvGrpSpPr>
      <p:grpSpPr>
        <a:xfrm>
          <a:off x="0" y="0"/>
          <a:ext cx="0" cy="0"/>
          <a:chOff x="0" y="0"/>
          <a:chExt cx="0" cy="0"/>
        </a:xfrm>
      </p:grpSpPr>
      <p:sp>
        <p:nvSpPr>
          <p:cNvPr id="63" name="Google Shape;63;p25"/>
          <p:cNvSpPr txBox="1">
            <a:spLocks noGrp="1"/>
          </p:cNvSpPr>
          <p:nvPr>
            <p:ph type="title"/>
          </p:nvPr>
        </p:nvSpPr>
        <p:spPr>
          <a:xfrm>
            <a:off x="457200" y="206375"/>
            <a:ext cx="8229600" cy="85725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64" name="Google Shape;64;p25"/>
          <p:cNvSpPr txBox="1">
            <a:spLocks noGrp="1"/>
          </p:cNvSpPr>
          <p:nvPr>
            <p:ph type="body" idx="1"/>
          </p:nvPr>
        </p:nvSpPr>
        <p:spPr>
          <a:xfrm>
            <a:off x="457200" y="1151335"/>
            <a:ext cx="4040188" cy="479822"/>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65" name="Google Shape;65;p25"/>
          <p:cNvSpPr txBox="1">
            <a:spLocks noGrp="1"/>
          </p:cNvSpPr>
          <p:nvPr>
            <p:ph type="body" idx="2"/>
          </p:nvPr>
        </p:nvSpPr>
        <p:spPr>
          <a:xfrm>
            <a:off x="457200" y="1631156"/>
            <a:ext cx="4040188" cy="2963466"/>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66" name="Google Shape;66;p25"/>
          <p:cNvSpPr txBox="1">
            <a:spLocks noGrp="1"/>
          </p:cNvSpPr>
          <p:nvPr>
            <p:ph type="body" idx="3"/>
          </p:nvPr>
        </p:nvSpPr>
        <p:spPr>
          <a:xfrm>
            <a:off x="4645026" y="1151335"/>
            <a:ext cx="4041775" cy="479822"/>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67" name="Google Shape;67;p25"/>
          <p:cNvSpPr txBox="1">
            <a:spLocks noGrp="1"/>
          </p:cNvSpPr>
          <p:nvPr>
            <p:ph type="body" idx="4"/>
          </p:nvPr>
        </p:nvSpPr>
        <p:spPr>
          <a:xfrm>
            <a:off x="4645026" y="1631156"/>
            <a:ext cx="4041775" cy="2963466"/>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68" name="Google Shape;68;p25"/>
          <p:cNvSpPr txBox="1">
            <a:spLocks noGrp="1"/>
          </p:cNvSpPr>
          <p:nvPr>
            <p:ph type="dt" idx="10"/>
          </p:nvPr>
        </p:nvSpPr>
        <p:spPr>
          <a:xfrm>
            <a:off x="457200" y="4767262"/>
            <a:ext cx="2133600" cy="274637"/>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25"/>
          <p:cNvSpPr txBox="1">
            <a:spLocks noGrp="1"/>
          </p:cNvSpPr>
          <p:nvPr>
            <p:ph type="ftr" idx="11"/>
          </p:nvPr>
        </p:nvSpPr>
        <p:spPr>
          <a:xfrm>
            <a:off x="3124200" y="4767262"/>
            <a:ext cx="2895600" cy="274637"/>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5"/>
          <p:cNvSpPr txBox="1">
            <a:spLocks noGrp="1"/>
          </p:cNvSpPr>
          <p:nvPr>
            <p:ph type="sldNum" idx="12"/>
          </p:nvPr>
        </p:nvSpPr>
        <p:spPr>
          <a:xfrm>
            <a:off x="6553200" y="4767262"/>
            <a:ext cx="2133600" cy="274637"/>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71"/>
        <p:cNvGrpSpPr/>
        <p:nvPr/>
      </p:nvGrpSpPr>
      <p:grpSpPr>
        <a:xfrm>
          <a:off x="0" y="0"/>
          <a:ext cx="0" cy="0"/>
          <a:chOff x="0" y="0"/>
          <a:chExt cx="0" cy="0"/>
        </a:xfrm>
      </p:grpSpPr>
      <p:sp>
        <p:nvSpPr>
          <p:cNvPr id="72" name="Google Shape;72;p26"/>
          <p:cNvSpPr txBox="1">
            <a:spLocks noGrp="1"/>
          </p:cNvSpPr>
          <p:nvPr>
            <p:ph type="title"/>
          </p:nvPr>
        </p:nvSpPr>
        <p:spPr>
          <a:xfrm>
            <a:off x="457200" y="206375"/>
            <a:ext cx="8229600" cy="85725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73" name="Google Shape;73;p26"/>
          <p:cNvSpPr txBox="1">
            <a:spLocks noGrp="1"/>
          </p:cNvSpPr>
          <p:nvPr>
            <p:ph type="body" idx="1"/>
          </p:nvPr>
        </p:nvSpPr>
        <p:spPr>
          <a:xfrm>
            <a:off x="457200" y="1200151"/>
            <a:ext cx="4038600" cy="3394472"/>
          </a:xfrm>
          <a:prstGeom prst="rect">
            <a:avLst/>
          </a:prstGeom>
          <a:noFill/>
          <a:ln>
            <a:noFill/>
          </a:ln>
        </p:spPr>
        <p:txBody>
          <a:bodyPr spcFirstLastPara="1" wrap="square" lIns="91425" tIns="45700" rIns="91425" bIns="45700" anchor="t" anchorCtr="0">
            <a:no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74" name="Google Shape;74;p26"/>
          <p:cNvSpPr txBox="1">
            <a:spLocks noGrp="1"/>
          </p:cNvSpPr>
          <p:nvPr>
            <p:ph type="body" idx="2"/>
          </p:nvPr>
        </p:nvSpPr>
        <p:spPr>
          <a:xfrm>
            <a:off x="4648200" y="1200151"/>
            <a:ext cx="4038600" cy="3394472"/>
          </a:xfrm>
          <a:prstGeom prst="rect">
            <a:avLst/>
          </a:prstGeom>
          <a:noFill/>
          <a:ln>
            <a:noFill/>
          </a:ln>
        </p:spPr>
        <p:txBody>
          <a:bodyPr spcFirstLastPara="1" wrap="square" lIns="91425" tIns="45700" rIns="91425" bIns="45700" anchor="t" anchorCtr="0">
            <a:no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75" name="Google Shape;75;p26"/>
          <p:cNvSpPr txBox="1">
            <a:spLocks noGrp="1"/>
          </p:cNvSpPr>
          <p:nvPr>
            <p:ph type="dt" idx="10"/>
          </p:nvPr>
        </p:nvSpPr>
        <p:spPr>
          <a:xfrm>
            <a:off x="457200" y="4767262"/>
            <a:ext cx="2133600" cy="274637"/>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6"/>
          <p:cNvSpPr txBox="1">
            <a:spLocks noGrp="1"/>
          </p:cNvSpPr>
          <p:nvPr>
            <p:ph type="ftr" idx="11"/>
          </p:nvPr>
        </p:nvSpPr>
        <p:spPr>
          <a:xfrm>
            <a:off x="3124200" y="4767262"/>
            <a:ext cx="2895600" cy="274637"/>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6"/>
          <p:cNvSpPr txBox="1">
            <a:spLocks noGrp="1"/>
          </p:cNvSpPr>
          <p:nvPr>
            <p:ph type="sldNum" idx="12"/>
          </p:nvPr>
        </p:nvSpPr>
        <p:spPr>
          <a:xfrm>
            <a:off x="6553200" y="4767262"/>
            <a:ext cx="2133600" cy="274637"/>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8"/>
        <p:cNvGrpSpPr/>
        <p:nvPr/>
      </p:nvGrpSpPr>
      <p:grpSpPr>
        <a:xfrm>
          <a:off x="0" y="0"/>
          <a:ext cx="0" cy="0"/>
          <a:chOff x="0" y="0"/>
          <a:chExt cx="0" cy="0"/>
        </a:xfrm>
      </p:grpSpPr>
      <p:sp>
        <p:nvSpPr>
          <p:cNvPr id="79" name="Google Shape;79;p27"/>
          <p:cNvSpPr txBox="1">
            <a:spLocks noGrp="1"/>
          </p:cNvSpPr>
          <p:nvPr>
            <p:ph type="title"/>
          </p:nvPr>
        </p:nvSpPr>
        <p:spPr>
          <a:xfrm>
            <a:off x="722313" y="3305176"/>
            <a:ext cx="7772400" cy="1021556"/>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sz="4000" b="1" cap="none"/>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80" name="Google Shape;80;p27"/>
          <p:cNvSpPr txBox="1">
            <a:spLocks noGrp="1"/>
          </p:cNvSpPr>
          <p:nvPr>
            <p:ph type="body" idx="1"/>
          </p:nvPr>
        </p:nvSpPr>
        <p:spPr>
          <a:xfrm>
            <a:off x="722313" y="2180035"/>
            <a:ext cx="7772400" cy="1125140"/>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81" name="Google Shape;81;p27"/>
          <p:cNvSpPr txBox="1">
            <a:spLocks noGrp="1"/>
          </p:cNvSpPr>
          <p:nvPr>
            <p:ph type="dt" idx="10"/>
          </p:nvPr>
        </p:nvSpPr>
        <p:spPr>
          <a:xfrm>
            <a:off x="457200" y="4767262"/>
            <a:ext cx="2133600" cy="274637"/>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27"/>
          <p:cNvSpPr txBox="1">
            <a:spLocks noGrp="1"/>
          </p:cNvSpPr>
          <p:nvPr>
            <p:ph type="ftr" idx="11"/>
          </p:nvPr>
        </p:nvSpPr>
        <p:spPr>
          <a:xfrm>
            <a:off x="3124200" y="4767262"/>
            <a:ext cx="2895600" cy="274637"/>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7"/>
          <p:cNvSpPr txBox="1">
            <a:spLocks noGrp="1"/>
          </p:cNvSpPr>
          <p:nvPr>
            <p:ph type="sldNum" idx="12"/>
          </p:nvPr>
        </p:nvSpPr>
        <p:spPr>
          <a:xfrm>
            <a:off x="6553200" y="4767262"/>
            <a:ext cx="2133600" cy="274637"/>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6"/>
          <p:cNvSpPr txBox="1">
            <a:spLocks noGrp="1"/>
          </p:cNvSpPr>
          <p:nvPr>
            <p:ph type="title"/>
          </p:nvPr>
        </p:nvSpPr>
        <p:spPr>
          <a:xfrm>
            <a:off x="457200" y="206375"/>
            <a:ext cx="8229600" cy="85725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9pPr>
          </a:lstStyle>
          <a:p>
            <a:endParaRPr/>
          </a:p>
        </p:txBody>
      </p:sp>
      <p:sp>
        <p:nvSpPr>
          <p:cNvPr id="11" name="Google Shape;11;p16"/>
          <p:cNvSpPr txBox="1">
            <a:spLocks noGrp="1"/>
          </p:cNvSpPr>
          <p:nvPr>
            <p:ph type="body" idx="1"/>
          </p:nvPr>
        </p:nvSpPr>
        <p:spPr>
          <a:xfrm>
            <a:off x="457200" y="1200150"/>
            <a:ext cx="8229600" cy="3394075"/>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6"/>
          <p:cNvSpPr txBox="1">
            <a:spLocks noGrp="1"/>
          </p:cNvSpPr>
          <p:nvPr>
            <p:ph type="dt" idx="10"/>
          </p:nvPr>
        </p:nvSpPr>
        <p:spPr>
          <a:xfrm>
            <a:off x="457200" y="4767262"/>
            <a:ext cx="2133600" cy="274637"/>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98989"/>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 name="Google Shape;13;p16"/>
          <p:cNvSpPr txBox="1">
            <a:spLocks noGrp="1"/>
          </p:cNvSpPr>
          <p:nvPr>
            <p:ph type="ftr" idx="11"/>
          </p:nvPr>
        </p:nvSpPr>
        <p:spPr>
          <a:xfrm>
            <a:off x="3124200" y="4767262"/>
            <a:ext cx="2895600" cy="274637"/>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4" name="Google Shape;14;p16"/>
          <p:cNvSpPr txBox="1">
            <a:spLocks noGrp="1"/>
          </p:cNvSpPr>
          <p:nvPr>
            <p:ph type="sldNum" idx="12"/>
          </p:nvPr>
        </p:nvSpPr>
        <p:spPr>
          <a:xfrm>
            <a:off x="6553200" y="4767262"/>
            <a:ext cx="2133600" cy="274637"/>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a:spLocks noGrp="1"/>
          </p:cNvSpPr>
          <p:nvPr>
            <p:ph type="ctrTitle"/>
          </p:nvPr>
        </p:nvSpPr>
        <p:spPr>
          <a:xfrm>
            <a:off x="0" y="0"/>
            <a:ext cx="9144000" cy="5039212"/>
          </a:xfrm>
          <a:prstGeom prst="rect">
            <a:avLst/>
          </a:prstGeom>
          <a:noFill/>
          <a:ln>
            <a:noFill/>
          </a:ln>
        </p:spPr>
        <p:txBody>
          <a:bodyPr spcFirstLastPara="1" wrap="square" lIns="91425" tIns="45700" rIns="91425" bIns="45700" anchor="t" anchorCtr="0">
            <a:noAutofit/>
          </a:bodyPr>
          <a:lstStyle/>
          <a:p>
            <a:pPr>
              <a:buClr>
                <a:schemeClr val="dk1"/>
              </a:buClr>
              <a:buSzPts val="2000"/>
            </a:pPr>
            <a:r>
              <a:rPr lang="en-US" sz="3200" b="1" i="0" u="none" dirty="0">
                <a:solidFill>
                  <a:schemeClr val="dk1"/>
                </a:solidFill>
                <a:latin typeface="EB Garamond"/>
                <a:ea typeface="EB Garamond"/>
                <a:cs typeface="EB Garamond"/>
                <a:sym typeface="EB Garamond"/>
              </a:rPr>
              <a:t>VEL TECH HIGH TECH </a:t>
            </a:r>
            <a:br>
              <a:rPr lang="en-US" sz="2400" b="1" i="0" u="none" dirty="0">
                <a:solidFill>
                  <a:schemeClr val="dk1"/>
                </a:solidFill>
                <a:latin typeface="EB Garamond"/>
                <a:ea typeface="EB Garamond"/>
                <a:cs typeface="EB Garamond"/>
                <a:sym typeface="EB Garamond"/>
              </a:rPr>
            </a:br>
            <a:r>
              <a:rPr lang="en-US" sz="1600" b="1" i="0" u="none" dirty="0">
                <a:solidFill>
                  <a:schemeClr val="dk1"/>
                </a:solidFill>
                <a:latin typeface="EB Garamond"/>
                <a:ea typeface="EB Garamond"/>
                <a:cs typeface="EB Garamond"/>
                <a:sym typeface="EB Garamond"/>
              </a:rPr>
              <a:t>Dr. RANGARAJAN Dr. SAKUNTHALA ENGINEERING COLLEGE</a:t>
            </a:r>
            <a:br>
              <a:rPr lang="en-US" sz="2400" b="1" i="0" u="none" dirty="0">
                <a:solidFill>
                  <a:schemeClr val="dk1"/>
                </a:solidFill>
                <a:latin typeface="EB Garamond"/>
                <a:ea typeface="EB Garamond"/>
                <a:cs typeface="EB Garamond"/>
                <a:sym typeface="EB Garamond"/>
              </a:rPr>
            </a:br>
            <a:r>
              <a:rPr lang="en-US" sz="1400" b="1" i="0" u="none" dirty="0">
                <a:solidFill>
                  <a:schemeClr val="dk1"/>
                </a:solidFill>
                <a:latin typeface="EB Garamond"/>
                <a:ea typeface="EB Garamond"/>
                <a:cs typeface="EB Garamond"/>
                <a:sym typeface="EB Garamond"/>
              </a:rPr>
              <a:t>An Autonomous Institution</a:t>
            </a:r>
            <a:br>
              <a:rPr lang="en-US" sz="1400" b="1" i="0" u="none" dirty="0">
                <a:solidFill>
                  <a:schemeClr val="dk1"/>
                </a:solidFill>
                <a:latin typeface="EB Garamond"/>
                <a:ea typeface="EB Garamond"/>
                <a:cs typeface="EB Garamond"/>
                <a:sym typeface="EB Garamond"/>
              </a:rPr>
            </a:br>
            <a:r>
              <a:rPr lang="en-US" sz="1800" b="1" dirty="0">
                <a:latin typeface="EB Garamond"/>
                <a:ea typeface="EB Garamond"/>
                <a:cs typeface="EB Garamond"/>
                <a:sym typeface="EB Garamond"/>
              </a:rPr>
              <a:t>Department of Computer Science and Engineering </a:t>
            </a:r>
            <a:br>
              <a:rPr lang="en-US" sz="1800" b="1" dirty="0">
                <a:latin typeface="EB Garamond"/>
                <a:ea typeface="EB Garamond"/>
                <a:cs typeface="EB Garamond"/>
                <a:sym typeface="EB Garamond"/>
              </a:rPr>
            </a:br>
            <a:r>
              <a:rPr lang="en-US" sz="1800" b="1" dirty="0">
                <a:latin typeface="EB Garamond"/>
                <a:ea typeface="EB Garamond"/>
                <a:cs typeface="EB Garamond"/>
                <a:sym typeface="EB Garamond"/>
              </a:rPr>
              <a:t>(Artificial Intelligence and Machine Learning)</a:t>
            </a:r>
            <a:br>
              <a:rPr lang="en-US" sz="1800" b="1" dirty="0">
                <a:latin typeface="EB Garamond"/>
                <a:ea typeface="EB Garamond"/>
                <a:cs typeface="EB Garamond"/>
                <a:sym typeface="EB Garamond"/>
              </a:rPr>
            </a:br>
            <a:br>
              <a:rPr lang="en-US" sz="1800" b="1" dirty="0">
                <a:latin typeface="EB Garamond"/>
                <a:ea typeface="EB Garamond"/>
                <a:cs typeface="EB Garamond"/>
                <a:sym typeface="EB Garamond"/>
              </a:rPr>
            </a:br>
            <a:r>
              <a:rPr lang="en-US" sz="2400" b="1" dirty="0">
                <a:latin typeface="EB Garamond"/>
                <a:ea typeface="EB Garamond"/>
                <a:cs typeface="EB Garamond"/>
                <a:sym typeface="EB Garamond"/>
              </a:rPr>
              <a:t>Mini Project - Zeroth Review</a:t>
            </a:r>
            <a:br>
              <a:rPr lang="en-US" sz="2400" b="1" dirty="0">
                <a:latin typeface="EB Garamond"/>
                <a:ea typeface="EB Garamond"/>
                <a:cs typeface="EB Garamond"/>
                <a:sym typeface="EB Garamond"/>
              </a:rPr>
            </a:br>
            <a:r>
              <a:rPr lang="en-IN" altLang="en-US" sz="2400" dirty="0">
                <a:latin typeface="Adobe Garamond Pro Bold" pitchFamily="18" charset="0"/>
                <a:ea typeface="Adobe Fan Heiti Std B" pitchFamily="34" charset="-128"/>
              </a:rPr>
              <a:t>Date: 30.06.2025 </a:t>
            </a:r>
            <a:br>
              <a:rPr lang="en-IN" altLang="en-US" sz="2000" dirty="0">
                <a:solidFill>
                  <a:srgbClr val="FF0000"/>
                </a:solidFill>
                <a:latin typeface="Adobe Garamond Pro Bold" pitchFamily="18" charset="0"/>
                <a:ea typeface="Adobe Fan Heiti Std B" pitchFamily="34" charset="-128"/>
              </a:rPr>
            </a:br>
            <a:r>
              <a:rPr lang="en-IN" altLang="en-US" sz="2000" dirty="0">
                <a:solidFill>
                  <a:srgbClr val="FF0000"/>
                </a:solidFill>
                <a:latin typeface="Adobe Garamond Pro Bold" pitchFamily="18" charset="0"/>
                <a:ea typeface="Adobe Fan Heiti Std B" pitchFamily="34" charset="-128"/>
              </a:rPr>
              <a:t>                  </a:t>
            </a:r>
            <a:r>
              <a:rPr lang="en-US" sz="2400" b="1" dirty="0">
                <a:solidFill>
                  <a:schemeClr val="dk2"/>
                </a:solidFill>
                <a:latin typeface="EB Garamond"/>
                <a:ea typeface="EB Garamond"/>
                <a:cs typeface="EB Garamond"/>
                <a:sym typeface="EB Garamond"/>
              </a:rPr>
              <a:t>HOUSE PRICE PREDICTION 		</a:t>
            </a:r>
            <a:br>
              <a:rPr lang="en-US" sz="2400" b="1" dirty="0">
                <a:solidFill>
                  <a:schemeClr val="dk2"/>
                </a:solidFill>
                <a:latin typeface="EB Garamond"/>
                <a:ea typeface="EB Garamond"/>
                <a:cs typeface="EB Garamond"/>
                <a:sym typeface="EB Garamond"/>
              </a:rPr>
            </a:br>
            <a:r>
              <a:rPr lang="en-US" sz="2400" b="1" dirty="0">
                <a:solidFill>
                  <a:schemeClr val="dk2"/>
                </a:solidFill>
                <a:latin typeface="EB Garamond"/>
                <a:ea typeface="EB Garamond"/>
                <a:cs typeface="EB Garamond"/>
                <a:sym typeface="EB Garamond"/>
              </a:rPr>
              <a:t>		</a:t>
            </a:r>
            <a:br>
              <a:rPr lang="en-US" sz="2400" b="1" dirty="0">
                <a:solidFill>
                  <a:schemeClr val="dk2"/>
                </a:solidFill>
                <a:latin typeface="EB Garamond"/>
                <a:ea typeface="EB Garamond"/>
                <a:cs typeface="EB Garamond"/>
                <a:sym typeface="EB Garamond"/>
              </a:rPr>
            </a:br>
            <a:r>
              <a:rPr lang="en-US" sz="2400" b="1" dirty="0">
                <a:solidFill>
                  <a:schemeClr val="dk2"/>
                </a:solidFill>
                <a:latin typeface="EB Garamond"/>
                <a:ea typeface="EB Garamond"/>
                <a:cs typeface="EB Garamond"/>
                <a:sym typeface="EB Garamond"/>
              </a:rPr>
              <a:t>		</a:t>
            </a:r>
            <a:br>
              <a:rPr lang="en-US" sz="2400" b="1" dirty="0">
                <a:solidFill>
                  <a:schemeClr val="dk2"/>
                </a:solidFill>
                <a:latin typeface="EB Garamond"/>
                <a:ea typeface="EB Garamond"/>
                <a:cs typeface="EB Garamond"/>
                <a:sym typeface="EB Garamond"/>
              </a:rPr>
            </a:br>
            <a:br>
              <a:rPr lang="en-US" sz="2400" dirty="0"/>
            </a:br>
            <a:br>
              <a:rPr lang="en-US" sz="2400" dirty="0"/>
            </a:br>
            <a:br>
              <a:rPr lang="en-US" sz="1800" dirty="0"/>
            </a:br>
            <a:br>
              <a:rPr lang="en-US" sz="2800" b="1" i="0" u="none" dirty="0">
                <a:solidFill>
                  <a:schemeClr val="dk1"/>
                </a:solidFill>
                <a:latin typeface="EB Garamond"/>
                <a:ea typeface="EB Garamond"/>
                <a:cs typeface="EB Garamond"/>
                <a:sym typeface="EB Garamond"/>
              </a:rPr>
            </a:br>
            <a:endParaRPr dirty="0"/>
          </a:p>
        </p:txBody>
      </p:sp>
      <p:pic>
        <p:nvPicPr>
          <p:cNvPr id="89" name="Google Shape;89;p1" descr="C:\Users\Priya\Desktop\logo.jpg"/>
          <p:cNvPicPr preferRelativeResize="0"/>
          <p:nvPr/>
        </p:nvPicPr>
        <p:blipFill rotWithShape="1">
          <a:blip r:embed="rId3">
            <a:alphaModFix/>
          </a:blip>
          <a:srcRect/>
          <a:stretch/>
        </p:blipFill>
        <p:spPr>
          <a:xfrm>
            <a:off x="247650" y="71437"/>
            <a:ext cx="895350" cy="857250"/>
          </a:xfrm>
          <a:prstGeom prst="rect">
            <a:avLst/>
          </a:prstGeom>
          <a:noFill/>
          <a:ln>
            <a:noFill/>
          </a:ln>
        </p:spPr>
      </p:pic>
      <p:sp>
        <p:nvSpPr>
          <p:cNvPr id="90" name="Google Shape;90;p1"/>
          <p:cNvSpPr txBox="1"/>
          <p:nvPr/>
        </p:nvSpPr>
        <p:spPr>
          <a:xfrm>
            <a:off x="247650" y="3400320"/>
            <a:ext cx="5110162" cy="1357312"/>
          </a:xfrm>
          <a:prstGeom prst="rect">
            <a:avLst/>
          </a:prstGeom>
          <a:noFill/>
          <a:ln>
            <a:noFill/>
          </a:ln>
        </p:spPr>
        <p:txBody>
          <a:bodyPr spcFirstLastPara="1" wrap="square" lIns="91425" tIns="45700" rIns="91425" bIns="45700" anchor="t" anchorCtr="0">
            <a:normAutofit fontScale="85000" lnSpcReduction="20000"/>
          </a:bodyPr>
          <a:lstStyle/>
          <a:p>
            <a:pPr lvl="0">
              <a:buClr>
                <a:schemeClr val="dk1"/>
              </a:buClr>
              <a:buSzPct val="117647"/>
            </a:pPr>
            <a:r>
              <a:rPr lang="en-US" sz="1700" b="1" i="0" u="none" strike="noStrike" cap="none" dirty="0">
                <a:solidFill>
                  <a:schemeClr val="dk1"/>
                </a:solidFill>
                <a:latin typeface="EB Garamond"/>
                <a:ea typeface="EB Garamond"/>
                <a:cs typeface="EB Garamond"/>
                <a:sym typeface="EB Garamond"/>
              </a:rPr>
              <a:t>Student Name : </a:t>
            </a:r>
            <a:r>
              <a:rPr lang="en-US" sz="1700" b="1" dirty="0">
                <a:solidFill>
                  <a:schemeClr val="dk1"/>
                </a:solidFill>
                <a:latin typeface="EB Garamond"/>
                <a:ea typeface="EB Garamond"/>
                <a:cs typeface="EB Garamond"/>
                <a:sym typeface="EB Garamond"/>
              </a:rPr>
              <a:t>GATTAMANENI HIMESH </a:t>
            </a:r>
            <a:r>
              <a:rPr lang="en-US" sz="1700" b="1" i="0" u="none" strike="noStrike" cap="none" dirty="0">
                <a:solidFill>
                  <a:schemeClr val="dk1"/>
                </a:solidFill>
                <a:latin typeface="EB Garamond"/>
                <a:ea typeface="EB Garamond"/>
                <a:cs typeface="EB Garamond"/>
                <a:sym typeface="EB Garamond"/>
              </a:rPr>
              <a:t>(</a:t>
            </a:r>
            <a:r>
              <a:rPr lang="en-US" sz="1700" b="1" dirty="0">
                <a:solidFill>
                  <a:schemeClr val="dk1"/>
                </a:solidFill>
                <a:latin typeface="EB Garamond"/>
                <a:ea typeface="EB Garamond"/>
                <a:cs typeface="EB Garamond"/>
                <a:sym typeface="EB Garamond"/>
              </a:rPr>
              <a:t>113024148022</a:t>
            </a:r>
            <a:r>
              <a:rPr lang="en-US" sz="1700" b="1" i="0" u="none" strike="noStrike" cap="none" dirty="0">
                <a:solidFill>
                  <a:schemeClr val="dk1"/>
                </a:solidFill>
                <a:latin typeface="EB Garamond"/>
                <a:ea typeface="EB Garamond"/>
                <a:cs typeface="EB Garamond"/>
                <a:sym typeface="EB Garamond"/>
              </a:rPr>
              <a:t>)</a:t>
            </a:r>
            <a:endParaRPr dirty="0"/>
          </a:p>
          <a:p>
            <a:pPr lvl="0"/>
            <a:r>
              <a:rPr lang="en-US" sz="1700" b="1" i="0" u="none" strike="noStrike" cap="none" dirty="0">
                <a:solidFill>
                  <a:schemeClr val="dk1"/>
                </a:solidFill>
                <a:latin typeface="EB Garamond"/>
                <a:ea typeface="EB Garamond"/>
                <a:cs typeface="EB Garamond"/>
                <a:sym typeface="EB Garamond"/>
              </a:rPr>
              <a:t>Student Name : GAUTHAMAN </a:t>
            </a:r>
            <a:r>
              <a:rPr lang="en-US" sz="1700" b="1" dirty="0">
                <a:solidFill>
                  <a:schemeClr val="dk1"/>
                </a:solidFill>
                <a:latin typeface="EB Garamond"/>
                <a:ea typeface="EB Garamond"/>
                <a:cs typeface="EB Garamond"/>
                <a:sym typeface="EB Garamond"/>
              </a:rPr>
              <a:t>V (113024148023</a:t>
            </a:r>
            <a:r>
              <a:rPr lang="en-US" sz="1700" b="1" i="0" u="none" strike="noStrike" cap="none" dirty="0">
                <a:solidFill>
                  <a:schemeClr val="dk1"/>
                </a:solidFill>
                <a:latin typeface="EB Garamond"/>
                <a:ea typeface="EB Garamond"/>
                <a:cs typeface="EB Garamond"/>
                <a:sym typeface="EB Garamond"/>
              </a:rPr>
              <a:t>)</a:t>
            </a:r>
            <a:endParaRPr dirty="0"/>
          </a:p>
          <a:p>
            <a:pPr lvl="0"/>
            <a:r>
              <a:rPr lang="en-US" sz="1700" b="1" i="0" u="none" strike="noStrike" cap="none" dirty="0">
                <a:solidFill>
                  <a:schemeClr val="dk1"/>
                </a:solidFill>
                <a:latin typeface="EB Garamond"/>
                <a:ea typeface="EB Garamond"/>
                <a:cs typeface="EB Garamond"/>
                <a:sym typeface="EB Garamond"/>
              </a:rPr>
              <a:t>Student Name : GUMMIDI VIJAY KUMAR (</a:t>
            </a:r>
            <a:r>
              <a:rPr lang="en-US" sz="1700" b="1" dirty="0">
                <a:solidFill>
                  <a:schemeClr val="dk1"/>
                </a:solidFill>
                <a:latin typeface="EB Garamond"/>
                <a:ea typeface="EB Garamond"/>
                <a:cs typeface="EB Garamond"/>
                <a:sym typeface="EB Garamond"/>
              </a:rPr>
              <a:t>113024148024</a:t>
            </a:r>
            <a:r>
              <a:rPr lang="en-US" sz="1700" b="1" i="0" u="none" strike="noStrike" cap="none" dirty="0">
                <a:solidFill>
                  <a:schemeClr val="dk1"/>
                </a:solidFill>
                <a:latin typeface="EB Garamond"/>
                <a:ea typeface="EB Garamond"/>
                <a:cs typeface="EB Garamond"/>
                <a:sym typeface="EB Garamond"/>
              </a:rPr>
              <a:t>)</a:t>
            </a:r>
            <a:endParaRPr dirty="0"/>
          </a:p>
          <a:p>
            <a:pPr marL="0" marR="0" lvl="0" indent="0" algn="l" rtl="0">
              <a:lnSpc>
                <a:spcPct val="100000"/>
              </a:lnSpc>
              <a:spcBef>
                <a:spcPts val="340"/>
              </a:spcBef>
              <a:spcAft>
                <a:spcPts val="0"/>
              </a:spcAft>
              <a:buClr>
                <a:schemeClr val="dk1"/>
              </a:buClr>
              <a:buSzPct val="117647"/>
              <a:buFont typeface="EB Garamond"/>
              <a:buNone/>
            </a:pPr>
            <a:r>
              <a:rPr lang="en-US" sz="1700" b="1" i="0" u="none" strike="noStrike" cap="none" dirty="0">
                <a:solidFill>
                  <a:schemeClr val="dk1"/>
                </a:solidFill>
                <a:latin typeface="EB Garamond"/>
                <a:ea typeface="EB Garamond"/>
                <a:cs typeface="EB Garamond"/>
                <a:sym typeface="EB Garamond"/>
              </a:rPr>
              <a:t>Year : II</a:t>
            </a:r>
            <a:endParaRPr dirty="0"/>
          </a:p>
          <a:p>
            <a:pPr marL="0" marR="0" lvl="0" indent="0" algn="l" rtl="0">
              <a:lnSpc>
                <a:spcPct val="100000"/>
              </a:lnSpc>
              <a:spcBef>
                <a:spcPts val="340"/>
              </a:spcBef>
              <a:spcAft>
                <a:spcPts val="0"/>
              </a:spcAft>
              <a:buClr>
                <a:schemeClr val="dk1"/>
              </a:buClr>
              <a:buSzPct val="117647"/>
              <a:buFont typeface="EB Garamond"/>
              <a:buNone/>
            </a:pPr>
            <a:r>
              <a:rPr lang="en-US" sz="1700" b="1" i="0" u="none" strike="noStrike" cap="none" dirty="0">
                <a:solidFill>
                  <a:schemeClr val="dk1"/>
                </a:solidFill>
                <a:latin typeface="EB Garamond"/>
                <a:ea typeface="EB Garamond"/>
                <a:cs typeface="EB Garamond"/>
                <a:sym typeface="EB Garamond"/>
              </a:rPr>
              <a:t>Department : CSE(AI&amp;ML)</a:t>
            </a:r>
            <a:endParaRPr dirty="0"/>
          </a:p>
          <a:p>
            <a:pPr marL="0" marR="0" lvl="0" indent="0" algn="l" rtl="0">
              <a:lnSpc>
                <a:spcPct val="100000"/>
              </a:lnSpc>
              <a:spcBef>
                <a:spcPts val="340"/>
              </a:spcBef>
              <a:spcAft>
                <a:spcPts val="0"/>
              </a:spcAft>
              <a:buClr>
                <a:schemeClr val="dk1"/>
              </a:buClr>
              <a:buSzPct val="117647"/>
              <a:buFont typeface="EB Garamond"/>
              <a:buNone/>
            </a:pPr>
            <a:r>
              <a:rPr lang="en-US" sz="1700" b="1" i="0" u="none" strike="noStrike" cap="none" dirty="0">
                <a:solidFill>
                  <a:schemeClr val="dk1"/>
                </a:solidFill>
                <a:latin typeface="EB Garamond"/>
                <a:ea typeface="EB Garamond"/>
                <a:cs typeface="EB Garamond"/>
                <a:sym typeface="EB Garamond"/>
              </a:rPr>
              <a:t>Sec : A</a:t>
            </a:r>
            <a:endParaRPr sz="1400" b="0" i="0" u="none" strike="noStrike" cap="none" dirty="0">
              <a:solidFill>
                <a:srgbClr val="000000"/>
              </a:solidFill>
              <a:latin typeface="Arial"/>
              <a:ea typeface="Arial"/>
              <a:cs typeface="Arial"/>
              <a:sym typeface="Arial"/>
            </a:endParaRPr>
          </a:p>
        </p:txBody>
      </p:sp>
      <p:sp>
        <p:nvSpPr>
          <p:cNvPr id="91" name="Google Shape;91;p1"/>
          <p:cNvSpPr txBox="1"/>
          <p:nvPr/>
        </p:nvSpPr>
        <p:spPr>
          <a:xfrm>
            <a:off x="5357812" y="3064732"/>
            <a:ext cx="2932800" cy="16929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2000"/>
              <a:buFont typeface="EB Garamond"/>
              <a:buNone/>
            </a:pPr>
            <a:r>
              <a:rPr lang="en-US" sz="1400" b="1" i="0" u="sng" strike="noStrike" cap="none" dirty="0">
                <a:solidFill>
                  <a:schemeClr val="dk1"/>
                </a:solidFill>
                <a:latin typeface="EB Garamond"/>
                <a:ea typeface="EB Garamond"/>
                <a:cs typeface="EB Garamond"/>
                <a:sym typeface="EB Garamond"/>
              </a:rPr>
              <a:t>Supervisor</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360"/>
              </a:spcBef>
              <a:spcAft>
                <a:spcPts val="0"/>
              </a:spcAft>
              <a:buClr>
                <a:schemeClr val="dk1"/>
              </a:buClr>
              <a:buSzPts val="1800"/>
              <a:buFont typeface="EB Garamond"/>
              <a:buNone/>
            </a:pPr>
            <a:r>
              <a:rPr lang="en-US" sz="1400" b="1" i="0" u="none" strike="noStrike" cap="none" dirty="0">
                <a:solidFill>
                  <a:schemeClr val="dk1"/>
                </a:solidFill>
                <a:latin typeface="EB Garamond"/>
                <a:ea typeface="EB Garamond"/>
                <a:cs typeface="EB Garamond"/>
                <a:sym typeface="EB Garamond"/>
              </a:rPr>
              <a:t>Name : Dr. JENO JASMINE J</a:t>
            </a:r>
            <a:endParaRPr dirty="0"/>
          </a:p>
          <a:p>
            <a:pPr lvl="0">
              <a:spcBef>
                <a:spcPts val="360"/>
              </a:spcBef>
              <a:buClr>
                <a:schemeClr val="dk1"/>
              </a:buClr>
              <a:buSzPts val="1800"/>
            </a:pPr>
            <a:r>
              <a:rPr lang="en-US" sz="1400" b="1" i="0" u="none" strike="noStrike" cap="none" dirty="0" err="1">
                <a:solidFill>
                  <a:schemeClr val="dk1"/>
                </a:solidFill>
                <a:latin typeface="EB Garamond"/>
                <a:ea typeface="EB Garamond"/>
                <a:cs typeface="EB Garamond"/>
                <a:sym typeface="EB Garamond"/>
              </a:rPr>
              <a:t>Qualification:</a:t>
            </a:r>
            <a:r>
              <a:rPr lang="en-US" b="1" dirty="0" err="1">
                <a:solidFill>
                  <a:schemeClr val="dk1"/>
                </a:solidFill>
                <a:latin typeface="EB Garamond"/>
                <a:ea typeface="EB Garamond"/>
                <a:cs typeface="EB Garamond"/>
                <a:sym typeface="EB Garamond"/>
              </a:rPr>
              <a:t>B.E</a:t>
            </a:r>
            <a:r>
              <a:rPr lang="en-US" b="1" dirty="0">
                <a:solidFill>
                  <a:schemeClr val="dk1"/>
                </a:solidFill>
                <a:latin typeface="EB Garamond"/>
                <a:ea typeface="EB Garamond"/>
                <a:cs typeface="EB Garamond"/>
                <a:sym typeface="EB Garamond"/>
              </a:rPr>
              <a:t>., M.E., Ph.D.</a:t>
            </a:r>
            <a:endParaRPr sz="1400" b="0" i="0" u="none" strike="noStrike" cap="none" dirty="0">
              <a:solidFill>
                <a:srgbClr val="000000"/>
              </a:solidFill>
              <a:latin typeface="Arial"/>
              <a:ea typeface="Arial"/>
              <a:cs typeface="Arial"/>
              <a:sym typeface="Arial"/>
            </a:endParaRPr>
          </a:p>
          <a:p>
            <a:pPr lvl="0">
              <a:spcBef>
                <a:spcPts val="360"/>
              </a:spcBef>
              <a:buClr>
                <a:schemeClr val="dk1"/>
              </a:buClr>
              <a:buSzPts val="1800"/>
            </a:pPr>
            <a:r>
              <a:rPr lang="en-US" sz="1400" b="1" i="0" u="none" strike="noStrike" cap="none" dirty="0" err="1">
                <a:solidFill>
                  <a:schemeClr val="dk1"/>
                </a:solidFill>
                <a:latin typeface="EB Garamond"/>
                <a:ea typeface="EB Garamond"/>
                <a:cs typeface="EB Garamond"/>
                <a:sym typeface="EB Garamond"/>
              </a:rPr>
              <a:t>Designation:</a:t>
            </a:r>
            <a:r>
              <a:rPr lang="en-US" b="1" dirty="0" err="1">
                <a:solidFill>
                  <a:schemeClr val="dk1"/>
                </a:solidFill>
                <a:latin typeface="EB Garamond"/>
                <a:ea typeface="EB Garamond"/>
                <a:cs typeface="EB Garamond"/>
                <a:sym typeface="EB Garamond"/>
              </a:rPr>
              <a:t>Associate</a:t>
            </a:r>
            <a:r>
              <a:rPr lang="en-US" b="1" dirty="0">
                <a:solidFill>
                  <a:schemeClr val="dk1"/>
                </a:solidFill>
                <a:latin typeface="EB Garamond"/>
                <a:ea typeface="EB Garamond"/>
                <a:cs typeface="EB Garamond"/>
                <a:sym typeface="EB Garamond"/>
              </a:rPr>
              <a:t> Professor</a:t>
            </a:r>
            <a:endParaRPr dirty="0"/>
          </a:p>
          <a:p>
            <a:pPr marL="0" marR="0" lvl="0" indent="0" algn="l" rtl="0">
              <a:lnSpc>
                <a:spcPct val="100000"/>
              </a:lnSpc>
              <a:spcBef>
                <a:spcPts val="360"/>
              </a:spcBef>
              <a:spcAft>
                <a:spcPts val="0"/>
              </a:spcAft>
              <a:buClr>
                <a:schemeClr val="dk1"/>
              </a:buClr>
              <a:buSzPts val="1800"/>
              <a:buFont typeface="EB Garamond"/>
              <a:buNone/>
            </a:pPr>
            <a:r>
              <a:rPr lang="en-US" sz="1400" b="1" i="0" u="none" strike="noStrike" cap="none" dirty="0">
                <a:solidFill>
                  <a:schemeClr val="dk1"/>
                </a:solidFill>
                <a:latin typeface="EB Garamond"/>
                <a:ea typeface="EB Garamond"/>
                <a:cs typeface="EB Garamond"/>
                <a:sym typeface="EB Garamond"/>
              </a:rPr>
              <a:t>Department : CSE(AI&amp;ML)</a:t>
            </a:r>
            <a:endParaRPr sz="1400" b="1" i="0" u="none" strike="noStrike" cap="none" dirty="0">
              <a:solidFill>
                <a:schemeClr val="dk1"/>
              </a:solidFill>
              <a:latin typeface="EB Garamond"/>
              <a:ea typeface="EB Garamond"/>
              <a:cs typeface="EB Garamond"/>
              <a:sym typeface="EB Garamond"/>
            </a:endParaRPr>
          </a:p>
        </p:txBody>
      </p:sp>
    </p:spTree>
    <p:extLst>
      <p:ext uri="{BB962C8B-B14F-4D97-AF65-F5344CB8AC3E}">
        <p14:creationId xmlns:p14="http://schemas.microsoft.com/office/powerpoint/2010/main" val="5191093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8"/>
          <p:cNvSpPr txBox="1">
            <a:spLocks noGrp="1"/>
          </p:cNvSpPr>
          <p:nvPr>
            <p:ph type="body" idx="1"/>
          </p:nvPr>
        </p:nvSpPr>
        <p:spPr>
          <a:xfrm>
            <a:off x="642937" y="928687"/>
            <a:ext cx="7715250" cy="3929062"/>
          </a:xfrm>
          <a:prstGeom prst="rect">
            <a:avLst/>
          </a:prstGeom>
          <a:noFill/>
          <a:ln>
            <a:noFill/>
          </a:ln>
        </p:spPr>
        <p:txBody>
          <a:bodyPr spcFirstLastPara="1" wrap="square" lIns="91425" tIns="45700" rIns="91425" bIns="45700" anchor="t" anchorCtr="0">
            <a:normAutofit fontScale="92500" lnSpcReduction="10000"/>
          </a:bodyPr>
          <a:lstStyle/>
          <a:p>
            <a:pPr marL="457200" lvl="0" indent="-342900" algn="l" rtl="0">
              <a:lnSpc>
                <a:spcPct val="100000"/>
              </a:lnSpc>
              <a:spcBef>
                <a:spcPts val="360"/>
              </a:spcBef>
              <a:spcAft>
                <a:spcPts val="0"/>
              </a:spcAft>
              <a:buClr>
                <a:schemeClr val="dk1"/>
              </a:buClr>
              <a:buSzPts val="1800"/>
              <a:buChar char="•"/>
            </a:pPr>
            <a:r>
              <a:rPr lang="en-US" sz="2400" dirty="0">
                <a:solidFill>
                  <a:srgbClr val="7030A0"/>
                </a:solidFill>
                <a:latin typeface="EB Garamond"/>
                <a:ea typeface="EB Garamond"/>
                <a:cs typeface="EB Garamond"/>
                <a:sym typeface="EB Garamond"/>
              </a:rPr>
              <a:t>Abstract</a:t>
            </a:r>
            <a:endParaRPr dirty="0"/>
          </a:p>
          <a:p>
            <a:pPr marL="457200" lvl="0" indent="-342900" algn="l" rtl="0">
              <a:lnSpc>
                <a:spcPct val="100000"/>
              </a:lnSpc>
              <a:spcBef>
                <a:spcPts val="360"/>
              </a:spcBef>
              <a:spcAft>
                <a:spcPts val="0"/>
              </a:spcAft>
              <a:buClr>
                <a:schemeClr val="dk1"/>
              </a:buClr>
              <a:buSzPts val="1800"/>
              <a:buChar char="•"/>
            </a:pPr>
            <a:r>
              <a:rPr lang="en-US" sz="2400" dirty="0">
                <a:solidFill>
                  <a:srgbClr val="7030A0"/>
                </a:solidFill>
                <a:latin typeface="EB Garamond"/>
                <a:ea typeface="EB Garamond"/>
                <a:cs typeface="EB Garamond"/>
                <a:sym typeface="EB Garamond"/>
              </a:rPr>
              <a:t>Objective</a:t>
            </a:r>
            <a:endParaRPr dirty="0"/>
          </a:p>
          <a:p>
            <a:pPr marL="457200" lvl="0" indent="-342900" algn="l" rtl="0">
              <a:lnSpc>
                <a:spcPct val="100000"/>
              </a:lnSpc>
              <a:spcBef>
                <a:spcPts val="360"/>
              </a:spcBef>
              <a:spcAft>
                <a:spcPts val="0"/>
              </a:spcAft>
              <a:buClr>
                <a:schemeClr val="dk1"/>
              </a:buClr>
              <a:buSzPts val="1800"/>
              <a:buChar char="•"/>
            </a:pPr>
            <a:r>
              <a:rPr lang="en-US" sz="2400" dirty="0">
                <a:solidFill>
                  <a:srgbClr val="7030A0"/>
                </a:solidFill>
                <a:latin typeface="EB Garamond"/>
                <a:ea typeface="EB Garamond"/>
                <a:cs typeface="EB Garamond"/>
                <a:sym typeface="EB Garamond"/>
              </a:rPr>
              <a:t>Introduction</a:t>
            </a:r>
            <a:endParaRPr dirty="0"/>
          </a:p>
          <a:p>
            <a:pPr marL="457200" lvl="0" indent="-342900" algn="l" rtl="0">
              <a:lnSpc>
                <a:spcPct val="100000"/>
              </a:lnSpc>
              <a:spcBef>
                <a:spcPts val="360"/>
              </a:spcBef>
              <a:spcAft>
                <a:spcPts val="0"/>
              </a:spcAft>
              <a:buClr>
                <a:schemeClr val="dk1"/>
              </a:buClr>
              <a:buSzPts val="1800"/>
              <a:buChar char="•"/>
            </a:pPr>
            <a:r>
              <a:rPr lang="en-US" sz="2400" dirty="0">
                <a:solidFill>
                  <a:srgbClr val="7030A0"/>
                </a:solidFill>
                <a:latin typeface="EB Garamond"/>
                <a:ea typeface="EB Garamond"/>
                <a:cs typeface="EB Garamond"/>
                <a:sym typeface="EB Garamond"/>
              </a:rPr>
              <a:t>Literature Survey</a:t>
            </a:r>
            <a:endParaRPr dirty="0"/>
          </a:p>
          <a:p>
            <a:pPr marL="457200" lvl="0" indent="-342900" algn="l" rtl="0">
              <a:lnSpc>
                <a:spcPct val="100000"/>
              </a:lnSpc>
              <a:spcBef>
                <a:spcPts val="360"/>
              </a:spcBef>
              <a:spcAft>
                <a:spcPts val="0"/>
              </a:spcAft>
              <a:buClr>
                <a:schemeClr val="dk1"/>
              </a:buClr>
              <a:buSzPts val="1800"/>
              <a:buChar char="•"/>
            </a:pPr>
            <a:r>
              <a:rPr lang="en-US" sz="2400" dirty="0">
                <a:solidFill>
                  <a:srgbClr val="7030A0"/>
                </a:solidFill>
                <a:latin typeface="EB Garamond"/>
                <a:ea typeface="EB Garamond"/>
                <a:cs typeface="EB Garamond"/>
                <a:sym typeface="EB Garamond"/>
              </a:rPr>
              <a:t>Summary of Literature </a:t>
            </a:r>
            <a:endParaRPr sz="2400" dirty="0">
              <a:solidFill>
                <a:srgbClr val="7030A0"/>
              </a:solidFill>
              <a:latin typeface="EB Garamond"/>
              <a:ea typeface="EB Garamond"/>
              <a:cs typeface="EB Garamond"/>
              <a:sym typeface="EB Garamond"/>
            </a:endParaRPr>
          </a:p>
          <a:p>
            <a:pPr marL="457200" lvl="0" indent="-342900" algn="l" rtl="0">
              <a:lnSpc>
                <a:spcPct val="100000"/>
              </a:lnSpc>
              <a:spcBef>
                <a:spcPts val="360"/>
              </a:spcBef>
              <a:spcAft>
                <a:spcPts val="0"/>
              </a:spcAft>
              <a:buClr>
                <a:schemeClr val="dk1"/>
              </a:buClr>
              <a:buSzPts val="1800"/>
              <a:buChar char="•"/>
            </a:pPr>
            <a:r>
              <a:rPr lang="en-US" sz="2400" dirty="0">
                <a:solidFill>
                  <a:srgbClr val="7030A0"/>
                </a:solidFill>
                <a:latin typeface="EB Garamond"/>
                <a:ea typeface="EB Garamond"/>
                <a:cs typeface="EB Garamond"/>
                <a:sym typeface="EB Garamond"/>
              </a:rPr>
              <a:t>Proposed System &amp; Novelty</a:t>
            </a:r>
            <a:endParaRPr dirty="0"/>
          </a:p>
          <a:p>
            <a:pPr marL="457200" lvl="0" indent="-342900" algn="l" rtl="0">
              <a:lnSpc>
                <a:spcPct val="100000"/>
              </a:lnSpc>
              <a:spcBef>
                <a:spcPts val="360"/>
              </a:spcBef>
              <a:spcAft>
                <a:spcPts val="0"/>
              </a:spcAft>
              <a:buClr>
                <a:schemeClr val="dk1"/>
              </a:buClr>
              <a:buSzPts val="1800"/>
              <a:buChar char="•"/>
            </a:pPr>
            <a:r>
              <a:rPr lang="en-US" sz="2400" dirty="0">
                <a:solidFill>
                  <a:srgbClr val="7030A0"/>
                </a:solidFill>
                <a:latin typeface="EB Garamond"/>
                <a:ea typeface="EB Garamond"/>
                <a:cs typeface="EB Garamond"/>
                <a:sym typeface="EB Garamond"/>
              </a:rPr>
              <a:t>Block Diagram/Flowchart</a:t>
            </a:r>
            <a:endParaRPr dirty="0"/>
          </a:p>
          <a:p>
            <a:pPr marL="457200" lvl="0" indent="-342900" algn="l" rtl="0">
              <a:lnSpc>
                <a:spcPct val="100000"/>
              </a:lnSpc>
              <a:spcBef>
                <a:spcPts val="360"/>
              </a:spcBef>
              <a:spcAft>
                <a:spcPts val="0"/>
              </a:spcAft>
              <a:buClr>
                <a:schemeClr val="dk1"/>
              </a:buClr>
              <a:buSzPts val="1800"/>
              <a:buChar char="•"/>
            </a:pPr>
            <a:r>
              <a:rPr lang="en-US" sz="2400" dirty="0">
                <a:solidFill>
                  <a:srgbClr val="7030A0"/>
                </a:solidFill>
                <a:latin typeface="EB Garamond"/>
                <a:ea typeface="EB Garamond"/>
                <a:cs typeface="EB Garamond"/>
                <a:sym typeface="EB Garamond"/>
              </a:rPr>
              <a:t>Hardware/Software requirements</a:t>
            </a:r>
          </a:p>
          <a:p>
            <a:r>
              <a:rPr lang="en-IN" altLang="en-US" sz="2400" dirty="0">
                <a:solidFill>
                  <a:srgbClr val="7030A0"/>
                </a:solidFill>
                <a:latin typeface="Adobe Garamond Pro Bold" pitchFamily="18" charset="0"/>
              </a:rPr>
              <a:t>Work Plan</a:t>
            </a:r>
            <a:r>
              <a:rPr lang="en-US" sz="2400" dirty="0">
                <a:solidFill>
                  <a:srgbClr val="7030A0"/>
                </a:solidFill>
                <a:latin typeface="EB Garamond"/>
                <a:ea typeface="EB Garamond"/>
                <a:cs typeface="EB Garamond"/>
                <a:sym typeface="EB Garamond"/>
              </a:rPr>
              <a:t> </a:t>
            </a:r>
          </a:p>
          <a:p>
            <a:pPr marL="457200" lvl="0" indent="-342900" algn="l" rtl="0">
              <a:lnSpc>
                <a:spcPct val="100000"/>
              </a:lnSpc>
              <a:spcBef>
                <a:spcPts val="360"/>
              </a:spcBef>
              <a:spcAft>
                <a:spcPts val="0"/>
              </a:spcAft>
              <a:buClr>
                <a:schemeClr val="dk1"/>
              </a:buClr>
              <a:buSzPts val="1800"/>
              <a:buChar char="•"/>
            </a:pPr>
            <a:r>
              <a:rPr lang="en-US" sz="2400" dirty="0">
                <a:solidFill>
                  <a:srgbClr val="7030A0"/>
                </a:solidFill>
                <a:latin typeface="EB Garamond"/>
                <a:ea typeface="EB Garamond"/>
                <a:cs typeface="EB Garamond"/>
                <a:sym typeface="EB Garamond"/>
              </a:rPr>
              <a:t>References</a:t>
            </a:r>
            <a:endParaRPr sz="2400" dirty="0">
              <a:solidFill>
                <a:srgbClr val="7030A0"/>
              </a:solidFill>
              <a:latin typeface="EB Garamond"/>
              <a:ea typeface="EB Garamond"/>
              <a:cs typeface="EB Garamond"/>
              <a:sym typeface="EB Garamond"/>
            </a:endParaRPr>
          </a:p>
          <a:p>
            <a:pPr marL="342900" marR="0" lvl="0" indent="-342900" algn="l" rtl="0">
              <a:lnSpc>
                <a:spcPct val="100000"/>
              </a:lnSpc>
              <a:spcBef>
                <a:spcPts val="0"/>
              </a:spcBef>
              <a:spcAft>
                <a:spcPts val="0"/>
              </a:spcAft>
              <a:buClr>
                <a:srgbClr val="7030A0"/>
              </a:buClr>
              <a:buSzPts val="2400"/>
              <a:buFont typeface="Arial"/>
              <a:buNone/>
            </a:pPr>
            <a:endParaRPr dirty="0"/>
          </a:p>
          <a:p>
            <a:pPr marL="342900" marR="0" lvl="0" indent="-342900" algn="l" rtl="0">
              <a:lnSpc>
                <a:spcPct val="100000"/>
              </a:lnSpc>
              <a:spcBef>
                <a:spcPts val="480"/>
              </a:spcBef>
              <a:spcAft>
                <a:spcPts val="0"/>
              </a:spcAft>
              <a:buClr>
                <a:schemeClr val="dk1"/>
              </a:buClr>
              <a:buSzPts val="2400"/>
              <a:buFont typeface="Arial"/>
              <a:buNone/>
            </a:pPr>
            <a:endParaRPr sz="2400" b="1" i="0" u="none" strike="noStrike" cap="none" dirty="0">
              <a:solidFill>
                <a:schemeClr val="dk1"/>
              </a:solidFill>
              <a:latin typeface="EB Garamond"/>
              <a:ea typeface="EB Garamond"/>
              <a:cs typeface="EB Garamond"/>
              <a:sym typeface="EB Garamond"/>
            </a:endParaRPr>
          </a:p>
          <a:p>
            <a:pPr marL="342900" marR="0" lvl="0" indent="-342900" algn="just" rtl="0">
              <a:lnSpc>
                <a:spcPct val="100000"/>
              </a:lnSpc>
              <a:spcBef>
                <a:spcPts val="360"/>
              </a:spcBef>
              <a:spcAft>
                <a:spcPts val="0"/>
              </a:spcAft>
              <a:buClr>
                <a:schemeClr val="dk1"/>
              </a:buClr>
              <a:buSzPts val="1800"/>
              <a:buFont typeface="Arial"/>
              <a:buNone/>
            </a:pPr>
            <a:endParaRPr sz="1800" b="1" i="0" u="none" strike="noStrike" cap="none" dirty="0">
              <a:solidFill>
                <a:schemeClr val="dk1"/>
              </a:solidFill>
              <a:latin typeface="EB Garamond"/>
              <a:ea typeface="EB Garamond"/>
              <a:cs typeface="EB Garamond"/>
              <a:sym typeface="EB Garamond"/>
            </a:endParaRPr>
          </a:p>
          <a:p>
            <a:pPr marL="342900" marR="0" lvl="0" indent="-228600" algn="l" rtl="0">
              <a:lnSpc>
                <a:spcPct val="100000"/>
              </a:lnSpc>
              <a:spcBef>
                <a:spcPts val="360"/>
              </a:spcBef>
              <a:spcAft>
                <a:spcPts val="0"/>
              </a:spcAft>
              <a:buClr>
                <a:schemeClr val="dk1"/>
              </a:buClr>
              <a:buSzPts val="1800"/>
              <a:buFont typeface="Arial"/>
              <a:buNone/>
            </a:pPr>
            <a:endParaRPr sz="1800" b="1" i="0" u="none" dirty="0">
              <a:solidFill>
                <a:schemeClr val="dk1"/>
              </a:solidFill>
              <a:latin typeface="EB Garamond"/>
              <a:ea typeface="EB Garamond"/>
              <a:cs typeface="EB Garamond"/>
              <a:sym typeface="EB Garamond"/>
            </a:endParaRPr>
          </a:p>
        </p:txBody>
      </p:sp>
      <p:sp>
        <p:nvSpPr>
          <p:cNvPr id="97" name="Google Shape;97;p28"/>
          <p:cNvSpPr txBox="1"/>
          <p:nvPr/>
        </p:nvSpPr>
        <p:spPr>
          <a:xfrm>
            <a:off x="6553200" y="4767262"/>
            <a:ext cx="2133600" cy="274637"/>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strike="noStrike" cap="none">
                <a:solidFill>
                  <a:srgbClr val="898989"/>
                </a:solidFill>
                <a:latin typeface="Calibri"/>
                <a:ea typeface="Calibri"/>
                <a:cs typeface="Calibri"/>
                <a:sym typeface="Calibri"/>
              </a:rPr>
              <a:t>2</a:t>
            </a:fld>
            <a:endParaRPr sz="1400" b="0" i="0" u="none" strike="noStrike" cap="none">
              <a:solidFill>
                <a:srgbClr val="000000"/>
              </a:solidFill>
              <a:latin typeface="Arial"/>
              <a:ea typeface="Arial"/>
              <a:cs typeface="Arial"/>
              <a:sym typeface="Arial"/>
            </a:endParaRPr>
          </a:p>
        </p:txBody>
      </p:sp>
      <p:sp>
        <p:nvSpPr>
          <p:cNvPr id="98" name="Google Shape;98;p28"/>
          <p:cNvSpPr txBox="1"/>
          <p:nvPr/>
        </p:nvSpPr>
        <p:spPr>
          <a:xfrm>
            <a:off x="0" y="246955"/>
            <a:ext cx="9144000" cy="85725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400" b="0" i="0" u="none" strike="noStrike" cap="none">
                <a:solidFill>
                  <a:srgbClr val="0070C0"/>
                </a:solidFill>
                <a:latin typeface="EB Garamond"/>
                <a:ea typeface="EB Garamond"/>
                <a:cs typeface="EB Garamond"/>
                <a:sym typeface="EB Garamond"/>
              </a:rPr>
              <a:t>OUTLINE</a:t>
            </a:r>
            <a:endParaRPr sz="1400" b="0" i="0" u="none" strike="noStrike" cap="none">
              <a:solidFill>
                <a:srgbClr val="0070C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9"/>
          <p:cNvSpPr txBox="1">
            <a:spLocks noGrp="1"/>
          </p:cNvSpPr>
          <p:nvPr>
            <p:ph type="body" idx="1"/>
          </p:nvPr>
        </p:nvSpPr>
        <p:spPr>
          <a:xfrm>
            <a:off x="642937" y="928687"/>
            <a:ext cx="7715250" cy="3929062"/>
          </a:xfrm>
          <a:prstGeom prst="rect">
            <a:avLst/>
          </a:prstGeom>
          <a:noFill/>
          <a:ln>
            <a:noFill/>
          </a:ln>
        </p:spPr>
        <p:txBody>
          <a:bodyPr spcFirstLastPara="1" wrap="square" lIns="91425" tIns="45700" rIns="91425" bIns="45700" anchor="t" anchorCtr="0">
            <a:normAutofit fontScale="85000" lnSpcReduction="10000"/>
          </a:bodyPr>
          <a:lstStyle/>
          <a:p>
            <a:pPr marL="342900" marR="0" lvl="0" indent="-342900" algn="l" rtl="0">
              <a:lnSpc>
                <a:spcPct val="100000"/>
              </a:lnSpc>
              <a:spcBef>
                <a:spcPts val="0"/>
              </a:spcBef>
              <a:spcAft>
                <a:spcPts val="0"/>
              </a:spcAft>
              <a:buClr>
                <a:srgbClr val="7030A0"/>
              </a:buClr>
              <a:buSzPts val="2400"/>
              <a:buFont typeface="Arial"/>
              <a:buNone/>
            </a:pPr>
            <a:r>
              <a:rPr lang="en-US" sz="2400" b="1" i="0" u="none" strike="noStrike" cap="none" dirty="0">
                <a:solidFill>
                  <a:srgbClr val="7030A0"/>
                </a:solidFill>
                <a:latin typeface="EB Garamond"/>
                <a:ea typeface="EB Garamond"/>
                <a:cs typeface="EB Garamond"/>
                <a:sym typeface="EB Garamond"/>
              </a:rPr>
              <a:t>Abstract:</a:t>
            </a:r>
            <a:endParaRPr dirty="0"/>
          </a:p>
          <a:p>
            <a:pPr marL="114300" indent="0">
              <a:buNone/>
            </a:pPr>
            <a:r>
              <a:rPr lang="en-US" sz="2400" dirty="0"/>
              <a:t>This project aims to predict housing prices using the Housing dataset with the help of </a:t>
            </a:r>
            <a:r>
              <a:rPr lang="en-US" sz="2400" dirty="0" err="1"/>
              <a:t>XGBoost</a:t>
            </a:r>
            <a:r>
              <a:rPr lang="en-US" sz="2400" dirty="0"/>
              <a:t>, a robust machine learning algorithm. Various features such as median income, population, and housing age are used to build the model. The workflow includes data preprocessing, exploratory analysis, model training, and hyperparameter tuning.</a:t>
            </a:r>
          </a:p>
          <a:p>
            <a:pPr marL="114300" indent="0">
              <a:buNone/>
            </a:pPr>
            <a:r>
              <a:rPr lang="en-US" sz="2400" dirty="0"/>
              <a:t>Evaluation metrics such as </a:t>
            </a:r>
            <a:r>
              <a:rPr lang="en-US" sz="2400" b="1" dirty="0"/>
              <a:t>Mean Squared Error (MSE)</a:t>
            </a:r>
            <a:r>
              <a:rPr lang="en-US" sz="2400" dirty="0"/>
              <a:t> and </a:t>
            </a:r>
            <a:r>
              <a:rPr lang="en-US" sz="2400" b="1" dirty="0"/>
              <a:t>R-squared score (R²)</a:t>
            </a:r>
            <a:r>
              <a:rPr lang="en-US" sz="2400" dirty="0"/>
              <a:t> are used to validate the model's performance and accuracy.</a:t>
            </a:r>
          </a:p>
          <a:p>
            <a:pPr marL="114300" indent="0">
              <a:buNone/>
            </a:pPr>
            <a:r>
              <a:rPr lang="en-US" sz="2400" dirty="0"/>
              <a:t>This project aligns with the goals of </a:t>
            </a:r>
            <a:r>
              <a:rPr lang="en-US" sz="2400" b="1" dirty="0"/>
              <a:t>Artificial Intelligence for real-life applications</a:t>
            </a:r>
            <a:r>
              <a:rPr lang="en-US" sz="2400" dirty="0"/>
              <a:t>, providing predictive insights valuable to </a:t>
            </a:r>
            <a:r>
              <a:rPr lang="en-US" sz="2400" b="1" dirty="0"/>
              <a:t>real estate businesses</a:t>
            </a:r>
            <a:r>
              <a:rPr lang="en-US" sz="2400" dirty="0"/>
              <a:t>, </a:t>
            </a:r>
            <a:r>
              <a:rPr lang="en-US" sz="2400" b="1" dirty="0"/>
              <a:t>home buyers</a:t>
            </a:r>
            <a:r>
              <a:rPr lang="en-US" sz="2400" dirty="0"/>
              <a:t>, and </a:t>
            </a:r>
            <a:r>
              <a:rPr lang="en-US" sz="2400" b="1" dirty="0"/>
              <a:t>policymakers</a:t>
            </a:r>
            <a:r>
              <a:rPr lang="en-US" sz="2400" dirty="0"/>
              <a:t> for better decision-making.</a:t>
            </a:r>
            <a:endParaRPr sz="1800" b="1" i="0" u="none" strike="noStrike" cap="none" dirty="0">
              <a:solidFill>
                <a:schemeClr val="dk1"/>
              </a:solidFill>
              <a:latin typeface="EB Garamond"/>
              <a:ea typeface="EB Garamond"/>
              <a:cs typeface="EB Garamond"/>
              <a:sym typeface="EB Garamond"/>
            </a:endParaRPr>
          </a:p>
          <a:p>
            <a:pPr marL="342900" marR="0" lvl="0" indent="-228600" algn="l" rtl="0">
              <a:lnSpc>
                <a:spcPct val="100000"/>
              </a:lnSpc>
              <a:spcBef>
                <a:spcPts val="360"/>
              </a:spcBef>
              <a:spcAft>
                <a:spcPts val="0"/>
              </a:spcAft>
              <a:buClr>
                <a:schemeClr val="dk1"/>
              </a:buClr>
              <a:buSzPts val="1800"/>
              <a:buFont typeface="Arial"/>
              <a:buNone/>
            </a:pPr>
            <a:endParaRPr sz="1800" b="1" i="0" u="none" dirty="0">
              <a:solidFill>
                <a:schemeClr val="dk1"/>
              </a:solidFill>
              <a:latin typeface="EB Garamond"/>
              <a:ea typeface="EB Garamond"/>
              <a:cs typeface="EB Garamond"/>
              <a:sym typeface="EB Garamond"/>
            </a:endParaRPr>
          </a:p>
        </p:txBody>
      </p:sp>
      <p:sp>
        <p:nvSpPr>
          <p:cNvPr id="104" name="Google Shape;104;p29"/>
          <p:cNvSpPr txBox="1"/>
          <p:nvPr/>
        </p:nvSpPr>
        <p:spPr>
          <a:xfrm>
            <a:off x="6553200" y="4767262"/>
            <a:ext cx="2133600" cy="274637"/>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strike="noStrike" cap="none">
                <a:solidFill>
                  <a:srgbClr val="898989"/>
                </a:solidFill>
                <a:latin typeface="Calibri"/>
                <a:ea typeface="Calibri"/>
                <a:cs typeface="Calibri"/>
                <a:sym typeface="Calibri"/>
              </a:rPr>
              <a:t>3</a:t>
            </a:fld>
            <a:endParaRPr sz="1400" b="0" i="0" u="none" strike="noStrike" cap="none">
              <a:solidFill>
                <a:srgbClr val="000000"/>
              </a:solidFill>
              <a:latin typeface="Arial"/>
              <a:ea typeface="Arial"/>
              <a:cs typeface="Arial"/>
              <a:sym typeface="Arial"/>
            </a:endParaRPr>
          </a:p>
        </p:txBody>
      </p:sp>
      <p:sp>
        <p:nvSpPr>
          <p:cNvPr id="105" name="Google Shape;105;p29"/>
          <p:cNvSpPr txBox="1"/>
          <p:nvPr/>
        </p:nvSpPr>
        <p:spPr>
          <a:xfrm>
            <a:off x="0" y="0"/>
            <a:ext cx="9144000" cy="857250"/>
          </a:xfrm>
          <a:prstGeom prst="rect">
            <a:avLst/>
          </a:prstGeom>
          <a:noFill/>
          <a:ln>
            <a:noFill/>
          </a:ln>
        </p:spPr>
        <p:txBody>
          <a:bodyPr spcFirstLastPara="1" wrap="square" lIns="91425" tIns="45700" rIns="91425" bIns="45700" anchor="t" anchorCtr="0">
            <a:noAutofit/>
          </a:bodyPr>
          <a:lstStyle/>
          <a:p>
            <a:pPr lvl="0" algn="ctr">
              <a:buClr>
                <a:schemeClr val="dk2"/>
              </a:buClr>
              <a:buSzPts val="2400"/>
            </a:pPr>
            <a:r>
              <a:rPr lang="en-US" sz="2400" b="1" dirty="0">
                <a:solidFill>
                  <a:schemeClr val="dk2"/>
                </a:solidFill>
                <a:latin typeface="EB Garamond"/>
                <a:ea typeface="EB Garamond"/>
                <a:cs typeface="EB Garamond"/>
                <a:sym typeface="EB Garamond"/>
              </a:rPr>
              <a:t>HOUSE PRICE PREDICTION</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30"/>
          <p:cNvSpPr txBox="1">
            <a:spLocks noGrp="1"/>
          </p:cNvSpPr>
          <p:nvPr>
            <p:ph type="body" idx="1"/>
          </p:nvPr>
        </p:nvSpPr>
        <p:spPr>
          <a:xfrm>
            <a:off x="500062" y="928687"/>
            <a:ext cx="7929562" cy="3957638"/>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7030A0"/>
              </a:buClr>
              <a:buSzPts val="2400"/>
              <a:buFont typeface="Arial"/>
              <a:buNone/>
            </a:pPr>
            <a:r>
              <a:rPr lang="en-US" sz="2400" b="1" i="0" u="none" dirty="0">
                <a:solidFill>
                  <a:srgbClr val="7030A0"/>
                </a:solidFill>
                <a:latin typeface="EB Garamond"/>
                <a:ea typeface="EB Garamond"/>
                <a:cs typeface="EB Garamond"/>
                <a:sym typeface="EB Garamond"/>
              </a:rPr>
              <a:t>Objective:</a:t>
            </a:r>
            <a:endParaRPr lang="en-IN" dirty="0"/>
          </a:p>
          <a:p>
            <a:pPr marL="342900">
              <a:lnSpc>
                <a:spcPct val="150000"/>
              </a:lnSpc>
              <a:spcBef>
                <a:spcPts val="480"/>
              </a:spcBef>
              <a:buSzPts val="2400"/>
            </a:pPr>
            <a:r>
              <a:rPr lang="en-US" sz="2400" b="1" i="0" u="none" dirty="0">
                <a:solidFill>
                  <a:schemeClr val="dk1"/>
                </a:solidFill>
                <a:latin typeface="EB Garamond"/>
                <a:ea typeface="EB Garamond"/>
                <a:cs typeface="EB Garamond"/>
                <a:sym typeface="EB Garamond"/>
              </a:rPr>
              <a:t>To predict the house prices using machine learning (</a:t>
            </a:r>
            <a:r>
              <a:rPr lang="en-US" sz="2400" b="1" i="0" u="none" dirty="0" err="1">
                <a:solidFill>
                  <a:schemeClr val="dk1"/>
                </a:solidFill>
                <a:latin typeface="EB Garamond"/>
                <a:ea typeface="EB Garamond"/>
                <a:cs typeface="EB Garamond"/>
                <a:sym typeface="EB Garamond"/>
              </a:rPr>
              <a:t>XGBoost</a:t>
            </a:r>
            <a:r>
              <a:rPr lang="en-US" sz="2400" b="1" i="0" u="none" dirty="0">
                <a:solidFill>
                  <a:schemeClr val="dk1"/>
                </a:solidFill>
                <a:latin typeface="EB Garamond"/>
                <a:ea typeface="EB Garamond"/>
                <a:cs typeface="EB Garamond"/>
                <a:sym typeface="EB Garamond"/>
              </a:rPr>
              <a:t>).</a:t>
            </a:r>
          </a:p>
          <a:p>
            <a:pPr marL="342900">
              <a:lnSpc>
                <a:spcPct val="150000"/>
              </a:lnSpc>
              <a:spcBef>
                <a:spcPts val="480"/>
              </a:spcBef>
              <a:buSzPts val="2400"/>
            </a:pPr>
            <a:r>
              <a:rPr lang="en-US" sz="2400" b="1" i="0" u="none" dirty="0">
                <a:solidFill>
                  <a:schemeClr val="dk1"/>
                </a:solidFill>
                <a:latin typeface="EB Garamond"/>
                <a:ea typeface="EB Garamond"/>
                <a:cs typeface="EB Garamond"/>
                <a:sym typeface="EB Garamond"/>
              </a:rPr>
              <a:t>To understand the importance of different features affecting housing costs.</a:t>
            </a:r>
          </a:p>
          <a:p>
            <a:pPr marL="342900">
              <a:lnSpc>
                <a:spcPct val="150000"/>
              </a:lnSpc>
              <a:spcBef>
                <a:spcPts val="480"/>
              </a:spcBef>
              <a:buSzPts val="2400"/>
            </a:pPr>
            <a:r>
              <a:rPr lang="en-US" sz="2400" b="1" i="0" u="none" dirty="0">
                <a:solidFill>
                  <a:schemeClr val="dk1"/>
                </a:solidFill>
                <a:latin typeface="EB Garamond"/>
                <a:ea typeface="EB Garamond"/>
                <a:cs typeface="EB Garamond"/>
                <a:sym typeface="EB Garamond"/>
              </a:rPr>
              <a:t>To implement data preprocessing, model evaluation, and parameter tuning techniques.</a:t>
            </a:r>
            <a:endParaRPr sz="2400" b="1" i="0" u="none" dirty="0">
              <a:solidFill>
                <a:schemeClr val="dk1"/>
              </a:solidFill>
              <a:latin typeface="EB Garamond"/>
              <a:ea typeface="EB Garamond"/>
              <a:cs typeface="EB Garamond"/>
              <a:sym typeface="EB Garamond"/>
            </a:endParaRPr>
          </a:p>
        </p:txBody>
      </p:sp>
      <p:sp>
        <p:nvSpPr>
          <p:cNvPr id="111" name="Google Shape;111;p30"/>
          <p:cNvSpPr txBox="1"/>
          <p:nvPr/>
        </p:nvSpPr>
        <p:spPr>
          <a:xfrm>
            <a:off x="6553200" y="4767262"/>
            <a:ext cx="2133600" cy="274637"/>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strike="noStrike" cap="none">
                <a:solidFill>
                  <a:srgbClr val="898989"/>
                </a:solidFill>
                <a:latin typeface="Calibri"/>
                <a:ea typeface="Calibri"/>
                <a:cs typeface="Calibri"/>
                <a:sym typeface="Calibri"/>
              </a:rPr>
              <a:t>4</a:t>
            </a:fld>
            <a:endParaRPr sz="1400" b="0" i="0" u="none" strike="noStrike" cap="none">
              <a:solidFill>
                <a:srgbClr val="000000"/>
              </a:solidFill>
              <a:latin typeface="Arial"/>
              <a:ea typeface="Arial"/>
              <a:cs typeface="Arial"/>
              <a:sym typeface="Arial"/>
            </a:endParaRPr>
          </a:p>
        </p:txBody>
      </p:sp>
      <p:sp>
        <p:nvSpPr>
          <p:cNvPr id="112" name="Google Shape;112;p30"/>
          <p:cNvSpPr txBox="1"/>
          <p:nvPr/>
        </p:nvSpPr>
        <p:spPr>
          <a:xfrm>
            <a:off x="0" y="0"/>
            <a:ext cx="9144000" cy="857250"/>
          </a:xfrm>
          <a:prstGeom prst="rect">
            <a:avLst/>
          </a:prstGeom>
          <a:noFill/>
          <a:ln>
            <a:noFill/>
          </a:ln>
        </p:spPr>
        <p:txBody>
          <a:bodyPr spcFirstLastPara="1" wrap="square" lIns="91425" tIns="45700" rIns="91425" bIns="45700" anchor="t" anchorCtr="0">
            <a:noAutofit/>
          </a:bodyPr>
          <a:lstStyle/>
          <a:p>
            <a:pPr lvl="0" algn="ctr">
              <a:buClr>
                <a:schemeClr val="dk2"/>
              </a:buClr>
              <a:buSzPts val="2400"/>
            </a:pPr>
            <a:r>
              <a:rPr lang="en-US" sz="2400" b="1" dirty="0">
                <a:solidFill>
                  <a:schemeClr val="dk2"/>
                </a:solidFill>
                <a:latin typeface="EB Garamond"/>
                <a:ea typeface="EB Garamond"/>
                <a:cs typeface="EB Garamond"/>
                <a:sym typeface="EB Garamond"/>
              </a:rPr>
              <a:t>HOUSE PRICE PREDICTION</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
          <p:cNvSpPr txBox="1">
            <a:spLocks noGrp="1"/>
          </p:cNvSpPr>
          <p:nvPr>
            <p:ph type="body" idx="1"/>
          </p:nvPr>
        </p:nvSpPr>
        <p:spPr>
          <a:xfrm>
            <a:off x="642937" y="928687"/>
            <a:ext cx="7715250" cy="3929062"/>
          </a:xfrm>
          <a:prstGeom prst="rect">
            <a:avLst/>
          </a:prstGeom>
          <a:noFill/>
          <a:ln>
            <a:noFill/>
          </a:ln>
        </p:spPr>
        <p:txBody>
          <a:bodyPr spcFirstLastPara="1" wrap="square" lIns="91425" tIns="45700" rIns="91425" bIns="45700" anchor="t" anchorCtr="0">
            <a:normAutofit fontScale="85000" lnSpcReduction="10000"/>
          </a:bodyPr>
          <a:lstStyle/>
          <a:p>
            <a:pPr marL="342900" marR="0" lvl="0" indent="-342900" algn="l" rtl="0">
              <a:lnSpc>
                <a:spcPct val="100000"/>
              </a:lnSpc>
              <a:spcBef>
                <a:spcPts val="0"/>
              </a:spcBef>
              <a:spcAft>
                <a:spcPts val="0"/>
              </a:spcAft>
              <a:buClr>
                <a:srgbClr val="7030A0"/>
              </a:buClr>
              <a:buSzPts val="2400"/>
              <a:buFont typeface="Arial"/>
              <a:buNone/>
            </a:pPr>
            <a:r>
              <a:rPr lang="en-US" sz="2400" b="1" i="0" u="none" strike="noStrike" cap="none" dirty="0">
                <a:solidFill>
                  <a:srgbClr val="7030A0"/>
                </a:solidFill>
                <a:latin typeface="EB Garamond"/>
                <a:ea typeface="EB Garamond"/>
                <a:cs typeface="EB Garamond"/>
                <a:sym typeface="EB Garamond"/>
              </a:rPr>
              <a:t>Introduction:</a:t>
            </a:r>
            <a:endParaRPr dirty="0"/>
          </a:p>
          <a:p>
            <a:r>
              <a:rPr lang="en-US" sz="2400" dirty="0"/>
              <a:t>House prices depend on factors like income, location, population, and demand.</a:t>
            </a:r>
          </a:p>
          <a:p>
            <a:r>
              <a:rPr lang="en-US" sz="2400" dirty="0"/>
              <a:t>Predicting prices helps buyers, sellers, and agents make better decisions.</a:t>
            </a:r>
          </a:p>
          <a:p>
            <a:r>
              <a:rPr lang="en-US" sz="2400" dirty="0"/>
              <a:t>This project uses </a:t>
            </a:r>
            <a:r>
              <a:rPr lang="en-US" sz="2400" dirty="0" err="1"/>
              <a:t>XGBoost</a:t>
            </a:r>
            <a:r>
              <a:rPr lang="en-US" sz="2400" dirty="0"/>
              <a:t>, a powerful machine learning algorithm.</a:t>
            </a:r>
          </a:p>
          <a:p>
            <a:r>
              <a:rPr lang="en-US" sz="2400" dirty="0"/>
              <a:t>The dataset includes features like income, house age, and location.</a:t>
            </a:r>
          </a:p>
          <a:p>
            <a:r>
              <a:rPr lang="en-US" sz="2400" dirty="0"/>
              <a:t>A regression model is trained to predict median house values.</a:t>
            </a:r>
          </a:p>
          <a:p>
            <a:r>
              <a:rPr lang="en-US" sz="2400" dirty="0"/>
              <a:t>Feature importance is analyzed to understand what affects prices.</a:t>
            </a:r>
          </a:p>
          <a:p>
            <a:r>
              <a:rPr lang="en-US" sz="2400" dirty="0"/>
              <a:t>The model is fine-tuned for better accuracy and performance.</a:t>
            </a:r>
          </a:p>
          <a:p>
            <a:r>
              <a:rPr lang="en-US" sz="2400" dirty="0"/>
              <a:t>The final output gives a smart and data-based price estimate.</a:t>
            </a:r>
            <a:endParaRPr sz="1800" b="1" i="0" u="none" strike="noStrike" cap="none" dirty="0">
              <a:solidFill>
                <a:schemeClr val="dk1"/>
              </a:solidFill>
              <a:latin typeface="EB Garamond"/>
              <a:ea typeface="EB Garamond"/>
              <a:cs typeface="EB Garamond"/>
              <a:sym typeface="EB Garamond"/>
            </a:endParaRPr>
          </a:p>
          <a:p>
            <a:pPr marL="342900" marR="0" lvl="0" indent="-228600" algn="l" rtl="0">
              <a:lnSpc>
                <a:spcPct val="100000"/>
              </a:lnSpc>
              <a:spcBef>
                <a:spcPts val="360"/>
              </a:spcBef>
              <a:spcAft>
                <a:spcPts val="0"/>
              </a:spcAft>
              <a:buClr>
                <a:schemeClr val="dk1"/>
              </a:buClr>
              <a:buSzPts val="1800"/>
              <a:buFont typeface="Arial"/>
              <a:buNone/>
            </a:pPr>
            <a:endParaRPr sz="1800" b="1" i="0" u="none" dirty="0">
              <a:solidFill>
                <a:schemeClr val="dk1"/>
              </a:solidFill>
              <a:latin typeface="EB Garamond"/>
              <a:ea typeface="EB Garamond"/>
              <a:cs typeface="EB Garamond"/>
              <a:sym typeface="EB Garamond"/>
            </a:endParaRPr>
          </a:p>
        </p:txBody>
      </p:sp>
      <p:sp>
        <p:nvSpPr>
          <p:cNvPr id="118" name="Google Shape;118;p2"/>
          <p:cNvSpPr txBox="1"/>
          <p:nvPr/>
        </p:nvSpPr>
        <p:spPr>
          <a:xfrm>
            <a:off x="6553200" y="4767262"/>
            <a:ext cx="2133600" cy="274637"/>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strike="noStrike" cap="none">
                <a:solidFill>
                  <a:srgbClr val="898989"/>
                </a:solidFill>
                <a:latin typeface="Calibri"/>
                <a:ea typeface="Calibri"/>
                <a:cs typeface="Calibri"/>
                <a:sym typeface="Calibri"/>
              </a:rPr>
              <a:t>5</a:t>
            </a:fld>
            <a:endParaRPr sz="1400" b="0" i="0" u="none" strike="noStrike" cap="none">
              <a:solidFill>
                <a:srgbClr val="000000"/>
              </a:solidFill>
              <a:latin typeface="Arial"/>
              <a:ea typeface="Arial"/>
              <a:cs typeface="Arial"/>
              <a:sym typeface="Arial"/>
            </a:endParaRPr>
          </a:p>
        </p:txBody>
      </p:sp>
      <p:sp>
        <p:nvSpPr>
          <p:cNvPr id="119" name="Google Shape;119;p2"/>
          <p:cNvSpPr txBox="1"/>
          <p:nvPr/>
        </p:nvSpPr>
        <p:spPr>
          <a:xfrm>
            <a:off x="0" y="0"/>
            <a:ext cx="9144000" cy="857250"/>
          </a:xfrm>
          <a:prstGeom prst="rect">
            <a:avLst/>
          </a:prstGeom>
          <a:noFill/>
          <a:ln>
            <a:noFill/>
          </a:ln>
        </p:spPr>
        <p:txBody>
          <a:bodyPr spcFirstLastPara="1" wrap="square" lIns="91425" tIns="45700" rIns="91425" bIns="45700" anchor="t" anchorCtr="0">
            <a:noAutofit/>
          </a:bodyPr>
          <a:lstStyle/>
          <a:p>
            <a:pPr lvl="0" algn="ctr">
              <a:buClr>
                <a:schemeClr val="dk2"/>
              </a:buClr>
              <a:buSzPts val="2400"/>
            </a:pPr>
            <a:r>
              <a:rPr lang="en-US" sz="2400" b="1" dirty="0">
                <a:solidFill>
                  <a:schemeClr val="dk2"/>
                </a:solidFill>
                <a:latin typeface="EB Garamond"/>
                <a:ea typeface="EB Garamond"/>
                <a:cs typeface="EB Garamond"/>
                <a:sym typeface="EB Garamond"/>
              </a:rPr>
              <a:t>HOUSE PRICE PREDICTION</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4"/>
          <p:cNvSpPr txBox="1">
            <a:spLocks noGrp="1"/>
          </p:cNvSpPr>
          <p:nvPr>
            <p:ph type="body" idx="1"/>
          </p:nvPr>
        </p:nvSpPr>
        <p:spPr>
          <a:xfrm>
            <a:off x="0" y="714375"/>
            <a:ext cx="9144000" cy="50006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7030A0"/>
              </a:buClr>
              <a:buSzPts val="2400"/>
              <a:buFont typeface="Arial"/>
              <a:buNone/>
            </a:pPr>
            <a:r>
              <a:rPr lang="en-US" sz="2400" b="1" i="0" u="none">
                <a:solidFill>
                  <a:srgbClr val="7030A0"/>
                </a:solidFill>
                <a:latin typeface="EB Garamond"/>
                <a:ea typeface="EB Garamond"/>
                <a:cs typeface="EB Garamond"/>
                <a:sym typeface="EB Garamond"/>
              </a:rPr>
              <a:t>Literature Review:</a:t>
            </a:r>
            <a:endParaRPr/>
          </a:p>
          <a:p>
            <a:pPr marL="342900" marR="0" lvl="0" indent="-342900" algn="l" rtl="0">
              <a:lnSpc>
                <a:spcPct val="100000"/>
              </a:lnSpc>
              <a:spcBef>
                <a:spcPts val="480"/>
              </a:spcBef>
              <a:spcAft>
                <a:spcPts val="0"/>
              </a:spcAft>
              <a:buClr>
                <a:schemeClr val="dk1"/>
              </a:buClr>
              <a:buSzPts val="2400"/>
              <a:buFont typeface="Arial"/>
              <a:buNone/>
            </a:pPr>
            <a:endParaRPr sz="2400" b="1" i="0" u="none">
              <a:solidFill>
                <a:schemeClr val="dk1"/>
              </a:solidFill>
              <a:latin typeface="EB Garamond"/>
              <a:ea typeface="EB Garamond"/>
              <a:cs typeface="EB Garamond"/>
              <a:sym typeface="EB Garamond"/>
            </a:endParaRPr>
          </a:p>
          <a:p>
            <a:pPr marL="342900" marR="0" lvl="0" indent="-190500" algn="l" rtl="0">
              <a:lnSpc>
                <a:spcPct val="100000"/>
              </a:lnSpc>
              <a:spcBef>
                <a:spcPts val="480"/>
              </a:spcBef>
              <a:spcAft>
                <a:spcPts val="0"/>
              </a:spcAft>
              <a:buClr>
                <a:schemeClr val="dk1"/>
              </a:buClr>
              <a:buSzPts val="2400"/>
              <a:buFont typeface="Arial"/>
              <a:buNone/>
            </a:pPr>
            <a:endParaRPr sz="2400" b="1" i="0" u="none">
              <a:solidFill>
                <a:schemeClr val="dk1"/>
              </a:solidFill>
              <a:latin typeface="EB Garamond"/>
              <a:ea typeface="EB Garamond"/>
              <a:cs typeface="EB Garamond"/>
              <a:sym typeface="EB Garamond"/>
            </a:endParaRPr>
          </a:p>
        </p:txBody>
      </p:sp>
      <p:sp>
        <p:nvSpPr>
          <p:cNvPr id="125" name="Google Shape;125;p4"/>
          <p:cNvSpPr txBox="1"/>
          <p:nvPr/>
        </p:nvSpPr>
        <p:spPr>
          <a:xfrm>
            <a:off x="6553200" y="4767262"/>
            <a:ext cx="2133600" cy="274637"/>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strike="noStrike" cap="none">
                <a:solidFill>
                  <a:srgbClr val="898989"/>
                </a:solidFill>
                <a:latin typeface="Calibri"/>
                <a:ea typeface="Calibri"/>
                <a:cs typeface="Calibri"/>
                <a:sym typeface="Calibri"/>
              </a:rPr>
              <a:t>6</a:t>
            </a:fld>
            <a:endParaRPr sz="1400" b="0" i="0" u="none" strike="noStrike" cap="none">
              <a:solidFill>
                <a:srgbClr val="000000"/>
              </a:solidFill>
              <a:latin typeface="Arial"/>
              <a:ea typeface="Arial"/>
              <a:cs typeface="Arial"/>
              <a:sym typeface="Arial"/>
            </a:endParaRPr>
          </a:p>
        </p:txBody>
      </p:sp>
      <p:graphicFrame>
        <p:nvGraphicFramePr>
          <p:cNvPr id="126" name="Google Shape;126;p4"/>
          <p:cNvGraphicFramePr/>
          <p:nvPr>
            <p:extLst>
              <p:ext uri="{D42A27DB-BD31-4B8C-83A1-F6EECF244321}">
                <p14:modId xmlns:p14="http://schemas.microsoft.com/office/powerpoint/2010/main" val="2713522671"/>
              </p:ext>
            </p:extLst>
          </p:nvPr>
        </p:nvGraphicFramePr>
        <p:xfrm>
          <a:off x="214312" y="1214437"/>
          <a:ext cx="8715350" cy="3749990"/>
        </p:xfrm>
        <a:graphic>
          <a:graphicData uri="http://schemas.openxmlformats.org/drawingml/2006/table">
            <a:tbl>
              <a:tblPr>
                <a:noFill/>
                <a:tableStyleId>{97BA896C-5A56-4E20-B309-1431A78C2CCE}</a:tableStyleId>
              </a:tblPr>
              <a:tblGrid>
                <a:gridCol w="920750">
                  <a:extLst>
                    <a:ext uri="{9D8B030D-6E8A-4147-A177-3AD203B41FA5}">
                      <a16:colId xmlns:a16="http://schemas.microsoft.com/office/drawing/2014/main" val="20000"/>
                    </a:ext>
                  </a:extLst>
                </a:gridCol>
                <a:gridCol w="2905125">
                  <a:extLst>
                    <a:ext uri="{9D8B030D-6E8A-4147-A177-3AD203B41FA5}">
                      <a16:colId xmlns:a16="http://schemas.microsoft.com/office/drawing/2014/main" val="20001"/>
                    </a:ext>
                  </a:extLst>
                </a:gridCol>
                <a:gridCol w="3402000">
                  <a:extLst>
                    <a:ext uri="{9D8B030D-6E8A-4147-A177-3AD203B41FA5}">
                      <a16:colId xmlns:a16="http://schemas.microsoft.com/office/drawing/2014/main" val="20002"/>
                    </a:ext>
                  </a:extLst>
                </a:gridCol>
                <a:gridCol w="1487475">
                  <a:extLst>
                    <a:ext uri="{9D8B030D-6E8A-4147-A177-3AD203B41FA5}">
                      <a16:colId xmlns:a16="http://schemas.microsoft.com/office/drawing/2014/main" val="20003"/>
                    </a:ext>
                  </a:extLst>
                </a:gridCol>
              </a:tblGrid>
              <a:tr h="639750">
                <a:tc>
                  <a:txBody>
                    <a:bodyPr/>
                    <a:lstStyle/>
                    <a:p>
                      <a:pPr marL="0" marR="0" lvl="0" indent="0" algn="ctr" rtl="0">
                        <a:lnSpc>
                          <a:spcPct val="100000"/>
                        </a:lnSpc>
                        <a:spcBef>
                          <a:spcPts val="0"/>
                        </a:spcBef>
                        <a:spcAft>
                          <a:spcPts val="0"/>
                        </a:spcAft>
                        <a:buClr>
                          <a:schemeClr val="dk1"/>
                        </a:buClr>
                        <a:buSzPts val="1800"/>
                        <a:buFont typeface="EB Garamond"/>
                        <a:buNone/>
                      </a:pPr>
                      <a:r>
                        <a:rPr lang="en-US" sz="1800" b="1" i="0" u="none" strike="noStrike" cap="none">
                          <a:solidFill>
                            <a:schemeClr val="dk1"/>
                          </a:solidFill>
                          <a:latin typeface="EB Garamond"/>
                          <a:ea typeface="EB Garamond"/>
                          <a:cs typeface="EB Garamond"/>
                          <a:sym typeface="EB Garamond"/>
                        </a:rPr>
                        <a:t>S.No</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800"/>
                        <a:buFont typeface="EB Garamond"/>
                        <a:buNone/>
                      </a:pPr>
                      <a:r>
                        <a:rPr lang="en-US" sz="1800" b="1" i="0" u="none" strike="noStrike" cap="none">
                          <a:solidFill>
                            <a:schemeClr val="dk1"/>
                          </a:solidFill>
                          <a:latin typeface="EB Garamond"/>
                          <a:ea typeface="EB Garamond"/>
                          <a:cs typeface="EB Garamond"/>
                          <a:sym typeface="EB Garamond"/>
                        </a:rPr>
                        <a:t>Title of the Paper</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800"/>
                        <a:buFont typeface="EB Garamond"/>
                        <a:buNone/>
                      </a:pPr>
                      <a:r>
                        <a:rPr lang="en-US" sz="1800" b="1" i="0" u="none" strike="noStrike" cap="none">
                          <a:solidFill>
                            <a:schemeClr val="dk1"/>
                          </a:solidFill>
                          <a:latin typeface="EB Garamond"/>
                          <a:ea typeface="EB Garamond"/>
                          <a:cs typeface="EB Garamond"/>
                          <a:sym typeface="EB Garamond"/>
                        </a:rPr>
                        <a:t>Inference</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800"/>
                        <a:buFont typeface="EB Garamond"/>
                        <a:buNone/>
                      </a:pPr>
                      <a:r>
                        <a:rPr lang="en-US" sz="1800" b="1" i="0" u="none" strike="noStrike" cap="none">
                          <a:solidFill>
                            <a:schemeClr val="dk1"/>
                          </a:solidFill>
                          <a:latin typeface="EB Garamond"/>
                          <a:ea typeface="EB Garamond"/>
                          <a:cs typeface="EB Garamond"/>
                          <a:sym typeface="EB Garamond"/>
                        </a:rPr>
                        <a:t>Link/ DoI/ Reference</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109900">
                <a:tc>
                  <a:txBody>
                    <a:bodyPr/>
                    <a:lstStyle/>
                    <a:p>
                      <a:pPr marL="0" marR="0" lvl="0" indent="0" algn="ctr" rtl="0">
                        <a:lnSpc>
                          <a:spcPct val="100000"/>
                        </a:lnSpc>
                        <a:spcBef>
                          <a:spcPts val="0"/>
                        </a:spcBef>
                        <a:spcAft>
                          <a:spcPts val="0"/>
                        </a:spcAft>
                        <a:buClr>
                          <a:schemeClr val="dk1"/>
                        </a:buClr>
                        <a:buSzPts val="1800"/>
                        <a:buFont typeface="Calibri"/>
                        <a:buNone/>
                      </a:pPr>
                      <a:endParaRPr sz="1800" b="1" i="0" u="none" strike="noStrike" cap="none">
                        <a:solidFill>
                          <a:schemeClr val="dk1"/>
                        </a:solidFill>
                        <a:latin typeface="EB Garamond"/>
                        <a:ea typeface="EB Garamond"/>
                        <a:cs typeface="EB Garamond"/>
                        <a:sym typeface="EB Garamond"/>
                      </a:endParaRPr>
                    </a:p>
                    <a:p>
                      <a:pPr marL="0" marR="0" lvl="0" indent="0" algn="ctr" rtl="0">
                        <a:lnSpc>
                          <a:spcPct val="100000"/>
                        </a:lnSpc>
                        <a:spcBef>
                          <a:spcPts val="0"/>
                        </a:spcBef>
                        <a:spcAft>
                          <a:spcPts val="0"/>
                        </a:spcAft>
                        <a:buClr>
                          <a:schemeClr val="dk1"/>
                        </a:buClr>
                        <a:buSzPts val="1800"/>
                        <a:buFont typeface="Calibri"/>
                        <a:buNone/>
                      </a:pPr>
                      <a:endParaRPr sz="1800" b="1" i="0" u="none" strike="noStrike" cap="none">
                        <a:solidFill>
                          <a:schemeClr val="dk1"/>
                        </a:solidFill>
                        <a:latin typeface="EB Garamond"/>
                        <a:ea typeface="EB Garamond"/>
                        <a:cs typeface="EB Garamond"/>
                        <a:sym typeface="EB Garamond"/>
                      </a:endParaRPr>
                    </a:p>
                    <a:p>
                      <a:pPr marL="0" marR="0" lvl="0" indent="0" algn="ctr" rtl="0">
                        <a:lnSpc>
                          <a:spcPct val="100000"/>
                        </a:lnSpc>
                        <a:spcBef>
                          <a:spcPts val="0"/>
                        </a:spcBef>
                        <a:spcAft>
                          <a:spcPts val="0"/>
                        </a:spcAft>
                        <a:buClr>
                          <a:schemeClr val="dk1"/>
                        </a:buClr>
                        <a:buSzPts val="1800"/>
                        <a:buFont typeface="Calibri"/>
                        <a:buNone/>
                      </a:pPr>
                      <a:endParaRPr sz="1800" b="1" i="0" u="none" strike="noStrike" cap="none">
                        <a:solidFill>
                          <a:schemeClr val="dk1"/>
                        </a:solidFill>
                        <a:latin typeface="EB Garamond"/>
                        <a:ea typeface="EB Garamond"/>
                        <a:cs typeface="EB Garamond"/>
                        <a:sym typeface="EB Garamond"/>
                      </a:endParaRPr>
                    </a:p>
                    <a:p>
                      <a:pPr marL="0" marR="0" lvl="0" indent="0" algn="ctr" rtl="0">
                        <a:lnSpc>
                          <a:spcPct val="100000"/>
                        </a:lnSpc>
                        <a:spcBef>
                          <a:spcPts val="0"/>
                        </a:spcBef>
                        <a:spcAft>
                          <a:spcPts val="0"/>
                        </a:spcAft>
                        <a:buClr>
                          <a:schemeClr val="dk1"/>
                        </a:buClr>
                        <a:buSzPts val="1800"/>
                        <a:buFont typeface="Calibri"/>
                        <a:buNone/>
                      </a:pPr>
                      <a:endParaRPr sz="1800" b="1" i="0" u="none" strike="noStrike" cap="none">
                        <a:solidFill>
                          <a:schemeClr val="dk1"/>
                        </a:solidFill>
                        <a:latin typeface="EB Garamond"/>
                        <a:ea typeface="EB Garamond"/>
                        <a:cs typeface="EB Garamond"/>
                        <a:sym typeface="EB Garamond"/>
                      </a:endParaRPr>
                    </a:p>
                    <a:p>
                      <a:pPr marL="0" marR="0" lvl="0" indent="0" algn="ctr" rtl="0">
                        <a:lnSpc>
                          <a:spcPct val="100000"/>
                        </a:lnSpc>
                        <a:spcBef>
                          <a:spcPts val="0"/>
                        </a:spcBef>
                        <a:spcAft>
                          <a:spcPts val="0"/>
                        </a:spcAft>
                        <a:buClr>
                          <a:schemeClr val="dk1"/>
                        </a:buClr>
                        <a:buSzPts val="1800"/>
                        <a:buFont typeface="Calibri"/>
                        <a:buNone/>
                      </a:pPr>
                      <a:endParaRPr sz="1800" b="1" i="0" u="none" strike="noStrike" cap="none">
                        <a:solidFill>
                          <a:schemeClr val="dk1"/>
                        </a:solidFill>
                        <a:latin typeface="EB Garamond"/>
                        <a:ea typeface="EB Garamond"/>
                        <a:cs typeface="EB Garamond"/>
                        <a:sym typeface="EB Garamond"/>
                      </a:endParaRPr>
                    </a:p>
                    <a:p>
                      <a:pPr marL="0" marR="0" lvl="0" indent="0" algn="ctr" rtl="0">
                        <a:lnSpc>
                          <a:spcPct val="100000"/>
                        </a:lnSpc>
                        <a:spcBef>
                          <a:spcPts val="0"/>
                        </a:spcBef>
                        <a:spcAft>
                          <a:spcPts val="0"/>
                        </a:spcAft>
                        <a:buClr>
                          <a:schemeClr val="dk1"/>
                        </a:buClr>
                        <a:buSzPts val="1800"/>
                        <a:buFont typeface="EB Garamond"/>
                        <a:buNone/>
                      </a:pPr>
                      <a:r>
                        <a:rPr lang="en-US" sz="1800" b="1" i="0" u="none" strike="noStrike" cap="none">
                          <a:solidFill>
                            <a:schemeClr val="dk1"/>
                          </a:solidFill>
                          <a:latin typeface="EB Garamond"/>
                          <a:ea typeface="EB Garamond"/>
                          <a:cs typeface="EB Garamond"/>
                          <a:sym typeface="EB Garamond"/>
                        </a:rPr>
                        <a:t>1</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fontAlgn="base"/>
                      <a:r>
                        <a:rPr lang="en-US" b="1">
                          <a:solidFill>
                            <a:schemeClr val="tx1">
                              <a:lumMod val="95000"/>
                              <a:lumOff val="5000"/>
                            </a:schemeClr>
                          </a:solidFill>
                          <a:effectLst/>
                        </a:rPr>
                        <a:t>Research on the Design and Application of House Price Prediction Algorithms and Model Based on Machine Learning</a:t>
                      </a:r>
                      <a:r>
                        <a:rPr lang="en-US">
                          <a:solidFill>
                            <a:schemeClr val="tx1">
                              <a:lumMod val="95000"/>
                              <a:lumOff val="5000"/>
                            </a:schemeClr>
                          </a:solidFill>
                          <a:effectLst/>
                        </a:rPr>
                        <a:t> (Kexin Chen et al., ICIRDC, 2023)</a:t>
                      </a:r>
                    </a:p>
                  </a:txBody>
                  <a:tcPr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fontAlgn="base"/>
                      <a:r>
                        <a:rPr lang="en-US">
                          <a:solidFill>
                            <a:schemeClr val="tx1">
                              <a:lumMod val="95000"/>
                              <a:lumOff val="5000"/>
                            </a:schemeClr>
                          </a:solidFill>
                          <a:effectLst/>
                        </a:rPr>
                        <a:t>Demonstrates a complete ML workflow for house price prediction and highlights the importance of algorithm selection and tuning.</a:t>
                      </a:r>
                    </a:p>
                  </a:txBody>
                  <a:tcPr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fontAlgn="base"/>
                      <a:r>
                        <a:rPr lang="en-IN" b="0" u="none" strike="noStrike" dirty="0">
                          <a:solidFill>
                            <a:schemeClr val="tx1">
                              <a:lumMod val="95000"/>
                              <a:lumOff val="5000"/>
                            </a:schemeClr>
                          </a:solidFill>
                          <a:effectLst/>
                        </a:rPr>
                        <a:t>https://ieeexplore.ieee.org/document/10510965</a:t>
                      </a:r>
                    </a:p>
                  </a:txBody>
                  <a:tcPr anchor="ctr">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bl>
          </a:graphicData>
        </a:graphic>
      </p:graphicFrame>
      <p:sp>
        <p:nvSpPr>
          <p:cNvPr id="127" name="Google Shape;127;p4"/>
          <p:cNvSpPr txBox="1"/>
          <p:nvPr/>
        </p:nvSpPr>
        <p:spPr>
          <a:xfrm>
            <a:off x="0" y="0"/>
            <a:ext cx="9144000" cy="857250"/>
          </a:xfrm>
          <a:prstGeom prst="rect">
            <a:avLst/>
          </a:prstGeom>
          <a:noFill/>
          <a:ln>
            <a:noFill/>
          </a:ln>
        </p:spPr>
        <p:txBody>
          <a:bodyPr spcFirstLastPara="1" wrap="square" lIns="91425" tIns="45700" rIns="91425" bIns="45700" anchor="t" anchorCtr="0">
            <a:noAutofit/>
          </a:bodyPr>
          <a:lstStyle/>
          <a:p>
            <a:pPr lvl="0" algn="ctr">
              <a:buClr>
                <a:schemeClr val="dk2"/>
              </a:buClr>
              <a:buSzPts val="2400"/>
            </a:pPr>
            <a:r>
              <a:rPr lang="en-US" sz="2400" b="1" dirty="0">
                <a:solidFill>
                  <a:schemeClr val="dk2"/>
                </a:solidFill>
                <a:latin typeface="EB Garamond"/>
                <a:ea typeface="EB Garamond"/>
                <a:cs typeface="EB Garamond"/>
                <a:sym typeface="EB Garamond"/>
              </a:rPr>
              <a:t>HOUSE PRICE PREDICTION</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5"/>
          <p:cNvSpPr txBox="1">
            <a:spLocks noGrp="1"/>
          </p:cNvSpPr>
          <p:nvPr>
            <p:ph type="body" idx="1"/>
          </p:nvPr>
        </p:nvSpPr>
        <p:spPr>
          <a:xfrm>
            <a:off x="0" y="714375"/>
            <a:ext cx="9144000" cy="50006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7030A0"/>
              </a:buClr>
              <a:buSzPts val="2400"/>
              <a:buFont typeface="Arial"/>
              <a:buNone/>
            </a:pPr>
            <a:r>
              <a:rPr lang="en-US" sz="2400" b="1" i="0" u="none">
                <a:solidFill>
                  <a:srgbClr val="7030A0"/>
                </a:solidFill>
                <a:latin typeface="EB Garamond"/>
                <a:ea typeface="EB Garamond"/>
                <a:cs typeface="EB Garamond"/>
                <a:sym typeface="EB Garamond"/>
              </a:rPr>
              <a:t>Literature Review:</a:t>
            </a:r>
            <a:endParaRPr/>
          </a:p>
          <a:p>
            <a:pPr marL="342900" marR="0" lvl="0" indent="-342900" algn="l" rtl="0">
              <a:lnSpc>
                <a:spcPct val="100000"/>
              </a:lnSpc>
              <a:spcBef>
                <a:spcPts val="480"/>
              </a:spcBef>
              <a:spcAft>
                <a:spcPts val="0"/>
              </a:spcAft>
              <a:buClr>
                <a:schemeClr val="dk1"/>
              </a:buClr>
              <a:buSzPts val="2400"/>
              <a:buFont typeface="Arial"/>
              <a:buNone/>
            </a:pPr>
            <a:endParaRPr sz="2400" b="1" i="0" u="none">
              <a:solidFill>
                <a:schemeClr val="dk1"/>
              </a:solidFill>
              <a:latin typeface="EB Garamond"/>
              <a:ea typeface="EB Garamond"/>
              <a:cs typeface="EB Garamond"/>
              <a:sym typeface="EB Garamond"/>
            </a:endParaRPr>
          </a:p>
          <a:p>
            <a:pPr marL="342900" marR="0" lvl="0" indent="-190500" algn="l" rtl="0">
              <a:lnSpc>
                <a:spcPct val="100000"/>
              </a:lnSpc>
              <a:spcBef>
                <a:spcPts val="480"/>
              </a:spcBef>
              <a:spcAft>
                <a:spcPts val="0"/>
              </a:spcAft>
              <a:buClr>
                <a:schemeClr val="dk1"/>
              </a:buClr>
              <a:buSzPts val="2400"/>
              <a:buFont typeface="Arial"/>
              <a:buNone/>
            </a:pPr>
            <a:endParaRPr sz="2400" b="1" i="0" u="none">
              <a:solidFill>
                <a:schemeClr val="dk1"/>
              </a:solidFill>
              <a:latin typeface="EB Garamond"/>
              <a:ea typeface="EB Garamond"/>
              <a:cs typeface="EB Garamond"/>
              <a:sym typeface="EB Garamond"/>
            </a:endParaRPr>
          </a:p>
        </p:txBody>
      </p:sp>
      <p:sp>
        <p:nvSpPr>
          <p:cNvPr id="133" name="Google Shape;133;p5"/>
          <p:cNvSpPr txBox="1"/>
          <p:nvPr/>
        </p:nvSpPr>
        <p:spPr>
          <a:xfrm>
            <a:off x="6553200" y="4767262"/>
            <a:ext cx="2133600" cy="274637"/>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strike="noStrike" cap="none">
                <a:solidFill>
                  <a:srgbClr val="898989"/>
                </a:solidFill>
                <a:latin typeface="Calibri"/>
                <a:ea typeface="Calibri"/>
                <a:cs typeface="Calibri"/>
                <a:sym typeface="Calibri"/>
              </a:rPr>
              <a:t>7</a:t>
            </a:fld>
            <a:endParaRPr sz="1400" b="0" i="0" u="none" strike="noStrike" cap="none">
              <a:solidFill>
                <a:srgbClr val="000000"/>
              </a:solidFill>
              <a:latin typeface="Arial"/>
              <a:ea typeface="Arial"/>
              <a:cs typeface="Arial"/>
              <a:sym typeface="Arial"/>
            </a:endParaRPr>
          </a:p>
        </p:txBody>
      </p:sp>
      <p:graphicFrame>
        <p:nvGraphicFramePr>
          <p:cNvPr id="134" name="Google Shape;134;p5"/>
          <p:cNvGraphicFramePr/>
          <p:nvPr>
            <p:extLst>
              <p:ext uri="{D42A27DB-BD31-4B8C-83A1-F6EECF244321}">
                <p14:modId xmlns:p14="http://schemas.microsoft.com/office/powerpoint/2010/main" val="1293971563"/>
              </p:ext>
            </p:extLst>
          </p:nvPr>
        </p:nvGraphicFramePr>
        <p:xfrm>
          <a:off x="142875" y="1214437"/>
          <a:ext cx="8786775" cy="3749990"/>
        </p:xfrm>
        <a:graphic>
          <a:graphicData uri="http://schemas.openxmlformats.org/drawingml/2006/table">
            <a:tbl>
              <a:tblPr>
                <a:noFill/>
                <a:tableStyleId>{97BA896C-5A56-4E20-B309-1431A78C2CCE}</a:tableStyleId>
              </a:tblPr>
              <a:tblGrid>
                <a:gridCol w="928675">
                  <a:extLst>
                    <a:ext uri="{9D8B030D-6E8A-4147-A177-3AD203B41FA5}">
                      <a16:colId xmlns:a16="http://schemas.microsoft.com/office/drawing/2014/main" val="20000"/>
                    </a:ext>
                  </a:extLst>
                </a:gridCol>
                <a:gridCol w="2928925">
                  <a:extLst>
                    <a:ext uri="{9D8B030D-6E8A-4147-A177-3AD203B41FA5}">
                      <a16:colId xmlns:a16="http://schemas.microsoft.com/office/drawing/2014/main" val="20001"/>
                    </a:ext>
                  </a:extLst>
                </a:gridCol>
                <a:gridCol w="3429000">
                  <a:extLst>
                    <a:ext uri="{9D8B030D-6E8A-4147-A177-3AD203B41FA5}">
                      <a16:colId xmlns:a16="http://schemas.microsoft.com/office/drawing/2014/main" val="20002"/>
                    </a:ext>
                  </a:extLst>
                </a:gridCol>
                <a:gridCol w="1500175">
                  <a:extLst>
                    <a:ext uri="{9D8B030D-6E8A-4147-A177-3AD203B41FA5}">
                      <a16:colId xmlns:a16="http://schemas.microsoft.com/office/drawing/2014/main" val="20003"/>
                    </a:ext>
                  </a:extLst>
                </a:gridCol>
              </a:tblGrid>
              <a:tr h="639750">
                <a:tc>
                  <a:txBody>
                    <a:bodyPr/>
                    <a:lstStyle/>
                    <a:p>
                      <a:pPr marL="0" marR="0" lvl="0" indent="0" algn="ctr" rtl="0">
                        <a:lnSpc>
                          <a:spcPct val="100000"/>
                        </a:lnSpc>
                        <a:spcBef>
                          <a:spcPts val="0"/>
                        </a:spcBef>
                        <a:spcAft>
                          <a:spcPts val="0"/>
                        </a:spcAft>
                        <a:buClr>
                          <a:schemeClr val="dk1"/>
                        </a:buClr>
                        <a:buSzPts val="1800"/>
                        <a:buFont typeface="EB Garamond"/>
                        <a:buNone/>
                      </a:pPr>
                      <a:r>
                        <a:rPr lang="en-US" sz="1800" b="1" i="0" u="none" strike="noStrike" cap="none">
                          <a:solidFill>
                            <a:schemeClr val="dk1"/>
                          </a:solidFill>
                          <a:latin typeface="EB Garamond"/>
                          <a:ea typeface="EB Garamond"/>
                          <a:cs typeface="EB Garamond"/>
                          <a:sym typeface="EB Garamond"/>
                        </a:rPr>
                        <a:t>S.No</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800"/>
                        <a:buFont typeface="EB Garamond"/>
                        <a:buNone/>
                      </a:pPr>
                      <a:r>
                        <a:rPr lang="en-US" sz="1800" b="1" i="0" u="none" strike="noStrike" cap="none">
                          <a:solidFill>
                            <a:schemeClr val="dk1"/>
                          </a:solidFill>
                          <a:latin typeface="EB Garamond"/>
                          <a:ea typeface="EB Garamond"/>
                          <a:cs typeface="EB Garamond"/>
                          <a:sym typeface="EB Garamond"/>
                        </a:rPr>
                        <a:t>Title of the Paper</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800"/>
                        <a:buFont typeface="EB Garamond"/>
                        <a:buNone/>
                      </a:pPr>
                      <a:r>
                        <a:rPr lang="en-US" sz="1800" b="1" i="0" u="none" strike="noStrike" cap="none">
                          <a:solidFill>
                            <a:schemeClr val="dk1"/>
                          </a:solidFill>
                          <a:latin typeface="EB Garamond"/>
                          <a:ea typeface="EB Garamond"/>
                          <a:cs typeface="EB Garamond"/>
                          <a:sym typeface="EB Garamond"/>
                        </a:rPr>
                        <a:t>Inference</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800"/>
                        <a:buFont typeface="EB Garamond"/>
                        <a:buNone/>
                      </a:pPr>
                      <a:r>
                        <a:rPr lang="en-US" sz="1800" b="1" i="0" u="none" strike="noStrike" cap="none">
                          <a:solidFill>
                            <a:schemeClr val="dk1"/>
                          </a:solidFill>
                          <a:latin typeface="EB Garamond"/>
                          <a:ea typeface="EB Garamond"/>
                          <a:cs typeface="EB Garamond"/>
                          <a:sym typeface="EB Garamond"/>
                        </a:rPr>
                        <a:t>Link/ DoI/ Reference</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109900">
                <a:tc>
                  <a:txBody>
                    <a:bodyPr/>
                    <a:lstStyle/>
                    <a:p>
                      <a:pPr marL="0" marR="0" lvl="0" indent="0" algn="ctr" rtl="0">
                        <a:lnSpc>
                          <a:spcPct val="100000"/>
                        </a:lnSpc>
                        <a:spcBef>
                          <a:spcPts val="0"/>
                        </a:spcBef>
                        <a:spcAft>
                          <a:spcPts val="0"/>
                        </a:spcAft>
                        <a:buClr>
                          <a:schemeClr val="dk1"/>
                        </a:buClr>
                        <a:buSzPts val="1800"/>
                        <a:buFont typeface="Calibri"/>
                        <a:buNone/>
                      </a:pPr>
                      <a:endParaRPr sz="1800" b="1" i="0" u="none" strike="noStrike" cap="none">
                        <a:solidFill>
                          <a:schemeClr val="dk1"/>
                        </a:solidFill>
                        <a:latin typeface="EB Garamond"/>
                        <a:ea typeface="EB Garamond"/>
                        <a:cs typeface="EB Garamond"/>
                        <a:sym typeface="EB Garamond"/>
                      </a:endParaRPr>
                    </a:p>
                    <a:p>
                      <a:pPr marL="0" marR="0" lvl="0" indent="0" algn="ctr" rtl="0">
                        <a:lnSpc>
                          <a:spcPct val="100000"/>
                        </a:lnSpc>
                        <a:spcBef>
                          <a:spcPts val="0"/>
                        </a:spcBef>
                        <a:spcAft>
                          <a:spcPts val="0"/>
                        </a:spcAft>
                        <a:buClr>
                          <a:schemeClr val="dk1"/>
                        </a:buClr>
                        <a:buSzPts val="1800"/>
                        <a:buFont typeface="Calibri"/>
                        <a:buNone/>
                      </a:pPr>
                      <a:endParaRPr sz="1800" b="1" i="0" u="none" strike="noStrike" cap="none">
                        <a:solidFill>
                          <a:schemeClr val="dk1"/>
                        </a:solidFill>
                        <a:latin typeface="EB Garamond"/>
                        <a:ea typeface="EB Garamond"/>
                        <a:cs typeface="EB Garamond"/>
                        <a:sym typeface="EB Garamond"/>
                      </a:endParaRPr>
                    </a:p>
                    <a:p>
                      <a:pPr marL="0" marR="0" lvl="0" indent="0" algn="ctr" rtl="0">
                        <a:lnSpc>
                          <a:spcPct val="100000"/>
                        </a:lnSpc>
                        <a:spcBef>
                          <a:spcPts val="0"/>
                        </a:spcBef>
                        <a:spcAft>
                          <a:spcPts val="0"/>
                        </a:spcAft>
                        <a:buClr>
                          <a:schemeClr val="dk1"/>
                        </a:buClr>
                        <a:buSzPts val="1800"/>
                        <a:buFont typeface="Calibri"/>
                        <a:buNone/>
                      </a:pPr>
                      <a:endParaRPr sz="1800" b="1" i="0" u="none" strike="noStrike" cap="none">
                        <a:solidFill>
                          <a:schemeClr val="dk1"/>
                        </a:solidFill>
                        <a:latin typeface="EB Garamond"/>
                        <a:ea typeface="EB Garamond"/>
                        <a:cs typeface="EB Garamond"/>
                        <a:sym typeface="EB Garamond"/>
                      </a:endParaRPr>
                    </a:p>
                    <a:p>
                      <a:pPr marL="0" marR="0" lvl="0" indent="0" algn="ctr" rtl="0">
                        <a:lnSpc>
                          <a:spcPct val="100000"/>
                        </a:lnSpc>
                        <a:spcBef>
                          <a:spcPts val="0"/>
                        </a:spcBef>
                        <a:spcAft>
                          <a:spcPts val="0"/>
                        </a:spcAft>
                        <a:buClr>
                          <a:schemeClr val="dk1"/>
                        </a:buClr>
                        <a:buSzPts val="1800"/>
                        <a:buFont typeface="Calibri"/>
                        <a:buNone/>
                      </a:pPr>
                      <a:endParaRPr sz="1800" b="1" i="0" u="none" strike="noStrike" cap="none">
                        <a:solidFill>
                          <a:schemeClr val="dk1"/>
                        </a:solidFill>
                        <a:latin typeface="EB Garamond"/>
                        <a:ea typeface="EB Garamond"/>
                        <a:cs typeface="EB Garamond"/>
                        <a:sym typeface="EB Garamond"/>
                      </a:endParaRPr>
                    </a:p>
                    <a:p>
                      <a:pPr marL="0" marR="0" lvl="0" indent="0" algn="ctr" rtl="0">
                        <a:lnSpc>
                          <a:spcPct val="100000"/>
                        </a:lnSpc>
                        <a:spcBef>
                          <a:spcPts val="0"/>
                        </a:spcBef>
                        <a:spcAft>
                          <a:spcPts val="0"/>
                        </a:spcAft>
                        <a:buClr>
                          <a:schemeClr val="dk1"/>
                        </a:buClr>
                        <a:buSzPts val="1800"/>
                        <a:buFont typeface="Calibri"/>
                        <a:buNone/>
                      </a:pPr>
                      <a:endParaRPr sz="1800" b="1" i="0" u="none" strike="noStrike" cap="none">
                        <a:solidFill>
                          <a:schemeClr val="dk1"/>
                        </a:solidFill>
                        <a:latin typeface="EB Garamond"/>
                        <a:ea typeface="EB Garamond"/>
                        <a:cs typeface="EB Garamond"/>
                        <a:sym typeface="EB Garamond"/>
                      </a:endParaRPr>
                    </a:p>
                    <a:p>
                      <a:pPr marL="0" marR="0" lvl="0" indent="0" algn="ctr" rtl="0">
                        <a:lnSpc>
                          <a:spcPct val="100000"/>
                        </a:lnSpc>
                        <a:spcBef>
                          <a:spcPts val="0"/>
                        </a:spcBef>
                        <a:spcAft>
                          <a:spcPts val="0"/>
                        </a:spcAft>
                        <a:buClr>
                          <a:schemeClr val="dk1"/>
                        </a:buClr>
                        <a:buSzPts val="1800"/>
                        <a:buFont typeface="EB Garamond"/>
                        <a:buNone/>
                      </a:pPr>
                      <a:r>
                        <a:rPr lang="en-US" sz="1800" b="1" i="0" u="none" strike="noStrike" cap="none">
                          <a:solidFill>
                            <a:schemeClr val="dk1"/>
                          </a:solidFill>
                          <a:latin typeface="EB Garamond"/>
                          <a:ea typeface="EB Garamond"/>
                          <a:cs typeface="EB Garamond"/>
                          <a:sym typeface="EB Garamond"/>
                        </a:rPr>
                        <a:t>2</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fontAlgn="base"/>
                      <a:r>
                        <a:rPr lang="en-IN" b="1">
                          <a:solidFill>
                            <a:schemeClr val="tx1">
                              <a:lumMod val="95000"/>
                              <a:lumOff val="5000"/>
                            </a:schemeClr>
                          </a:solidFill>
                          <a:effectLst/>
                        </a:rPr>
                        <a:t>Modeling House Price Prediction Model using XGBoost and ML Algorithms</a:t>
                      </a:r>
                      <a:r>
                        <a:rPr lang="en-IN">
                          <a:solidFill>
                            <a:schemeClr val="tx1">
                              <a:lumMod val="95000"/>
                              <a:lumOff val="5000"/>
                            </a:schemeClr>
                          </a:solidFill>
                          <a:effectLst/>
                        </a:rPr>
                        <a:t> (Ajmeera Kiran et al., ICCAMS, 2023)</a:t>
                      </a:r>
                    </a:p>
                  </a:txBody>
                  <a:tcPr anchor="ctr">
                    <a:lnL w="12700" cap="flat" cmpd="sng">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fontAlgn="base"/>
                      <a:r>
                        <a:rPr lang="en-US">
                          <a:solidFill>
                            <a:schemeClr val="tx1">
                              <a:lumMod val="95000"/>
                              <a:lumOff val="5000"/>
                            </a:schemeClr>
                          </a:solidFill>
                          <a:effectLst/>
                        </a:rPr>
                        <a:t>Uses XGBoost along with other ML models to compare accuracy. Confirms that XGBoost gives high predictive performance.</a:t>
                      </a:r>
                    </a:p>
                  </a:txBody>
                  <a:tcPr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fontAlgn="base"/>
                      <a:r>
                        <a:rPr lang="en-IN" b="0" u="none" strike="noStrike" dirty="0">
                          <a:solidFill>
                            <a:schemeClr val="tx1">
                              <a:lumMod val="95000"/>
                              <a:lumOff val="5000"/>
                            </a:schemeClr>
                          </a:solidFill>
                          <a:effectLst/>
                        </a:rPr>
                        <a:t>https://ieeexplore.ieee.org/document/10526190</a:t>
                      </a:r>
                    </a:p>
                  </a:txBody>
                  <a:tcPr anchor="ctr">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bl>
          </a:graphicData>
        </a:graphic>
      </p:graphicFrame>
      <p:sp>
        <p:nvSpPr>
          <p:cNvPr id="135" name="Google Shape;135;p5"/>
          <p:cNvSpPr txBox="1"/>
          <p:nvPr/>
        </p:nvSpPr>
        <p:spPr>
          <a:xfrm>
            <a:off x="0" y="0"/>
            <a:ext cx="9144000" cy="857250"/>
          </a:xfrm>
          <a:prstGeom prst="rect">
            <a:avLst/>
          </a:prstGeom>
          <a:noFill/>
          <a:ln>
            <a:noFill/>
          </a:ln>
        </p:spPr>
        <p:txBody>
          <a:bodyPr spcFirstLastPara="1" wrap="square" lIns="91425" tIns="45700" rIns="91425" bIns="45700" anchor="t" anchorCtr="0">
            <a:noAutofit/>
          </a:bodyPr>
          <a:lstStyle/>
          <a:p>
            <a:pPr lvl="0" algn="ctr">
              <a:buClr>
                <a:schemeClr val="dk2"/>
              </a:buClr>
              <a:buSzPts val="2400"/>
            </a:pPr>
            <a:r>
              <a:rPr lang="en-US" sz="2400" b="1" dirty="0">
                <a:solidFill>
                  <a:schemeClr val="dk2"/>
                </a:solidFill>
                <a:latin typeface="EB Garamond"/>
                <a:ea typeface="EB Garamond"/>
                <a:cs typeface="EB Garamond"/>
                <a:sym typeface="EB Garamond"/>
              </a:rPr>
              <a:t>HOUSE PRICE PREDICTION</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6"/>
          <p:cNvSpPr txBox="1">
            <a:spLocks noGrp="1"/>
          </p:cNvSpPr>
          <p:nvPr>
            <p:ph type="body" idx="1"/>
          </p:nvPr>
        </p:nvSpPr>
        <p:spPr>
          <a:xfrm>
            <a:off x="0" y="714375"/>
            <a:ext cx="9144000" cy="50006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7030A0"/>
              </a:buClr>
              <a:buSzPts val="2400"/>
              <a:buFont typeface="Arial"/>
              <a:buNone/>
            </a:pPr>
            <a:r>
              <a:rPr lang="en-US" sz="2400" b="1" i="0" u="none">
                <a:solidFill>
                  <a:srgbClr val="7030A0"/>
                </a:solidFill>
                <a:latin typeface="EB Garamond"/>
                <a:ea typeface="EB Garamond"/>
                <a:cs typeface="EB Garamond"/>
                <a:sym typeface="EB Garamond"/>
              </a:rPr>
              <a:t>Literature Review:</a:t>
            </a:r>
            <a:endParaRPr/>
          </a:p>
          <a:p>
            <a:pPr marL="342900" marR="0" lvl="0" indent="-342900" algn="l" rtl="0">
              <a:lnSpc>
                <a:spcPct val="100000"/>
              </a:lnSpc>
              <a:spcBef>
                <a:spcPts val="480"/>
              </a:spcBef>
              <a:spcAft>
                <a:spcPts val="0"/>
              </a:spcAft>
              <a:buClr>
                <a:schemeClr val="dk1"/>
              </a:buClr>
              <a:buSzPts val="2400"/>
              <a:buFont typeface="Arial"/>
              <a:buNone/>
            </a:pPr>
            <a:endParaRPr sz="2400" b="1" i="0" u="none">
              <a:solidFill>
                <a:schemeClr val="dk1"/>
              </a:solidFill>
              <a:latin typeface="EB Garamond"/>
              <a:ea typeface="EB Garamond"/>
              <a:cs typeface="EB Garamond"/>
              <a:sym typeface="EB Garamond"/>
            </a:endParaRPr>
          </a:p>
          <a:p>
            <a:pPr marL="342900" marR="0" lvl="0" indent="-190500" algn="l" rtl="0">
              <a:lnSpc>
                <a:spcPct val="100000"/>
              </a:lnSpc>
              <a:spcBef>
                <a:spcPts val="480"/>
              </a:spcBef>
              <a:spcAft>
                <a:spcPts val="0"/>
              </a:spcAft>
              <a:buClr>
                <a:schemeClr val="dk1"/>
              </a:buClr>
              <a:buSzPts val="2400"/>
              <a:buFont typeface="Arial"/>
              <a:buNone/>
            </a:pPr>
            <a:endParaRPr sz="2400" b="1" i="0" u="none">
              <a:solidFill>
                <a:schemeClr val="dk1"/>
              </a:solidFill>
              <a:latin typeface="EB Garamond"/>
              <a:ea typeface="EB Garamond"/>
              <a:cs typeface="EB Garamond"/>
              <a:sym typeface="EB Garamond"/>
            </a:endParaRPr>
          </a:p>
        </p:txBody>
      </p:sp>
      <p:sp>
        <p:nvSpPr>
          <p:cNvPr id="141" name="Google Shape;141;p6"/>
          <p:cNvSpPr txBox="1"/>
          <p:nvPr/>
        </p:nvSpPr>
        <p:spPr>
          <a:xfrm>
            <a:off x="6553200" y="4767262"/>
            <a:ext cx="2133600" cy="274637"/>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strike="noStrike" cap="none">
                <a:solidFill>
                  <a:srgbClr val="898989"/>
                </a:solidFill>
                <a:latin typeface="Calibri"/>
                <a:ea typeface="Calibri"/>
                <a:cs typeface="Calibri"/>
                <a:sym typeface="Calibri"/>
              </a:rPr>
              <a:t>8</a:t>
            </a:fld>
            <a:endParaRPr sz="1400" b="0" i="0" u="none" strike="noStrike" cap="none">
              <a:solidFill>
                <a:srgbClr val="000000"/>
              </a:solidFill>
              <a:latin typeface="Arial"/>
              <a:ea typeface="Arial"/>
              <a:cs typeface="Arial"/>
              <a:sym typeface="Arial"/>
            </a:endParaRPr>
          </a:p>
        </p:txBody>
      </p:sp>
      <p:graphicFrame>
        <p:nvGraphicFramePr>
          <p:cNvPr id="142" name="Google Shape;142;p6"/>
          <p:cNvGraphicFramePr/>
          <p:nvPr>
            <p:extLst>
              <p:ext uri="{D42A27DB-BD31-4B8C-83A1-F6EECF244321}">
                <p14:modId xmlns:p14="http://schemas.microsoft.com/office/powerpoint/2010/main" val="1186044125"/>
              </p:ext>
            </p:extLst>
          </p:nvPr>
        </p:nvGraphicFramePr>
        <p:xfrm>
          <a:off x="142875" y="1214437"/>
          <a:ext cx="8786775" cy="3749990"/>
        </p:xfrm>
        <a:graphic>
          <a:graphicData uri="http://schemas.openxmlformats.org/drawingml/2006/table">
            <a:tbl>
              <a:tblPr>
                <a:noFill/>
                <a:tableStyleId>{97BA896C-5A56-4E20-B309-1431A78C2CCE}</a:tableStyleId>
              </a:tblPr>
              <a:tblGrid>
                <a:gridCol w="928675">
                  <a:extLst>
                    <a:ext uri="{9D8B030D-6E8A-4147-A177-3AD203B41FA5}">
                      <a16:colId xmlns:a16="http://schemas.microsoft.com/office/drawing/2014/main" val="20000"/>
                    </a:ext>
                  </a:extLst>
                </a:gridCol>
                <a:gridCol w="2928925">
                  <a:extLst>
                    <a:ext uri="{9D8B030D-6E8A-4147-A177-3AD203B41FA5}">
                      <a16:colId xmlns:a16="http://schemas.microsoft.com/office/drawing/2014/main" val="20001"/>
                    </a:ext>
                  </a:extLst>
                </a:gridCol>
                <a:gridCol w="3429000">
                  <a:extLst>
                    <a:ext uri="{9D8B030D-6E8A-4147-A177-3AD203B41FA5}">
                      <a16:colId xmlns:a16="http://schemas.microsoft.com/office/drawing/2014/main" val="20002"/>
                    </a:ext>
                  </a:extLst>
                </a:gridCol>
                <a:gridCol w="1500175">
                  <a:extLst>
                    <a:ext uri="{9D8B030D-6E8A-4147-A177-3AD203B41FA5}">
                      <a16:colId xmlns:a16="http://schemas.microsoft.com/office/drawing/2014/main" val="20003"/>
                    </a:ext>
                  </a:extLst>
                </a:gridCol>
              </a:tblGrid>
              <a:tr h="639750">
                <a:tc>
                  <a:txBody>
                    <a:bodyPr/>
                    <a:lstStyle/>
                    <a:p>
                      <a:pPr marL="0" marR="0" lvl="0" indent="0" algn="ctr" rtl="0">
                        <a:lnSpc>
                          <a:spcPct val="100000"/>
                        </a:lnSpc>
                        <a:spcBef>
                          <a:spcPts val="0"/>
                        </a:spcBef>
                        <a:spcAft>
                          <a:spcPts val="0"/>
                        </a:spcAft>
                        <a:buClr>
                          <a:schemeClr val="dk1"/>
                        </a:buClr>
                        <a:buSzPts val="1800"/>
                        <a:buFont typeface="EB Garamond"/>
                        <a:buNone/>
                      </a:pPr>
                      <a:r>
                        <a:rPr lang="en-US" sz="1800" b="1" i="0" u="none" strike="noStrike" cap="none">
                          <a:solidFill>
                            <a:schemeClr val="dk1"/>
                          </a:solidFill>
                          <a:latin typeface="EB Garamond"/>
                          <a:ea typeface="EB Garamond"/>
                          <a:cs typeface="EB Garamond"/>
                          <a:sym typeface="EB Garamond"/>
                        </a:rPr>
                        <a:t>S.No</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800"/>
                        <a:buFont typeface="EB Garamond"/>
                        <a:buNone/>
                      </a:pPr>
                      <a:r>
                        <a:rPr lang="en-US" sz="1800" b="1" i="0" u="none" strike="noStrike" cap="none">
                          <a:solidFill>
                            <a:schemeClr val="dk1"/>
                          </a:solidFill>
                          <a:latin typeface="EB Garamond"/>
                          <a:ea typeface="EB Garamond"/>
                          <a:cs typeface="EB Garamond"/>
                          <a:sym typeface="EB Garamond"/>
                        </a:rPr>
                        <a:t>Title of the Paper</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800"/>
                        <a:buFont typeface="EB Garamond"/>
                        <a:buNone/>
                      </a:pPr>
                      <a:r>
                        <a:rPr lang="en-US" sz="1800" b="1" i="0" u="none" strike="noStrike" cap="none">
                          <a:solidFill>
                            <a:schemeClr val="dk1"/>
                          </a:solidFill>
                          <a:latin typeface="EB Garamond"/>
                          <a:ea typeface="EB Garamond"/>
                          <a:cs typeface="EB Garamond"/>
                          <a:sym typeface="EB Garamond"/>
                        </a:rPr>
                        <a:t>Inference</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800"/>
                        <a:buFont typeface="EB Garamond"/>
                        <a:buNone/>
                      </a:pPr>
                      <a:r>
                        <a:rPr lang="en-US" sz="1800" b="1" i="0" u="none" strike="noStrike" cap="none">
                          <a:solidFill>
                            <a:schemeClr val="dk1"/>
                          </a:solidFill>
                          <a:latin typeface="EB Garamond"/>
                          <a:ea typeface="EB Garamond"/>
                          <a:cs typeface="EB Garamond"/>
                          <a:sym typeface="EB Garamond"/>
                        </a:rPr>
                        <a:t>Link/ DoI/ Reference</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109900">
                <a:tc>
                  <a:txBody>
                    <a:bodyPr/>
                    <a:lstStyle/>
                    <a:p>
                      <a:pPr marL="0" marR="0" lvl="0" indent="0" algn="ctr" rtl="0">
                        <a:lnSpc>
                          <a:spcPct val="100000"/>
                        </a:lnSpc>
                        <a:spcBef>
                          <a:spcPts val="0"/>
                        </a:spcBef>
                        <a:spcAft>
                          <a:spcPts val="0"/>
                        </a:spcAft>
                        <a:buClr>
                          <a:schemeClr val="dk1"/>
                        </a:buClr>
                        <a:buSzPts val="1800"/>
                        <a:buFont typeface="Calibri"/>
                        <a:buNone/>
                      </a:pPr>
                      <a:endParaRPr sz="1800" b="1" i="0" u="none" strike="noStrike" cap="none">
                        <a:solidFill>
                          <a:schemeClr val="dk1"/>
                        </a:solidFill>
                        <a:latin typeface="EB Garamond"/>
                        <a:ea typeface="EB Garamond"/>
                        <a:cs typeface="EB Garamond"/>
                        <a:sym typeface="EB Garamond"/>
                      </a:endParaRPr>
                    </a:p>
                    <a:p>
                      <a:pPr marL="0" marR="0" lvl="0" indent="0" algn="ctr" rtl="0">
                        <a:lnSpc>
                          <a:spcPct val="100000"/>
                        </a:lnSpc>
                        <a:spcBef>
                          <a:spcPts val="0"/>
                        </a:spcBef>
                        <a:spcAft>
                          <a:spcPts val="0"/>
                        </a:spcAft>
                        <a:buClr>
                          <a:schemeClr val="dk1"/>
                        </a:buClr>
                        <a:buSzPts val="1800"/>
                        <a:buFont typeface="Calibri"/>
                        <a:buNone/>
                      </a:pPr>
                      <a:endParaRPr sz="1800" b="1" i="0" u="none" strike="noStrike" cap="none">
                        <a:solidFill>
                          <a:schemeClr val="dk1"/>
                        </a:solidFill>
                        <a:latin typeface="EB Garamond"/>
                        <a:ea typeface="EB Garamond"/>
                        <a:cs typeface="EB Garamond"/>
                        <a:sym typeface="EB Garamond"/>
                      </a:endParaRPr>
                    </a:p>
                    <a:p>
                      <a:pPr marL="0" marR="0" lvl="0" indent="0" algn="ctr" rtl="0">
                        <a:lnSpc>
                          <a:spcPct val="100000"/>
                        </a:lnSpc>
                        <a:spcBef>
                          <a:spcPts val="0"/>
                        </a:spcBef>
                        <a:spcAft>
                          <a:spcPts val="0"/>
                        </a:spcAft>
                        <a:buClr>
                          <a:schemeClr val="dk1"/>
                        </a:buClr>
                        <a:buSzPts val="1800"/>
                        <a:buFont typeface="Calibri"/>
                        <a:buNone/>
                      </a:pPr>
                      <a:endParaRPr sz="1800" b="1" i="0" u="none" strike="noStrike" cap="none">
                        <a:solidFill>
                          <a:schemeClr val="dk1"/>
                        </a:solidFill>
                        <a:latin typeface="EB Garamond"/>
                        <a:ea typeface="EB Garamond"/>
                        <a:cs typeface="EB Garamond"/>
                        <a:sym typeface="EB Garamond"/>
                      </a:endParaRPr>
                    </a:p>
                    <a:p>
                      <a:pPr marL="0" marR="0" lvl="0" indent="0" algn="ctr" rtl="0">
                        <a:lnSpc>
                          <a:spcPct val="100000"/>
                        </a:lnSpc>
                        <a:spcBef>
                          <a:spcPts val="0"/>
                        </a:spcBef>
                        <a:spcAft>
                          <a:spcPts val="0"/>
                        </a:spcAft>
                        <a:buClr>
                          <a:schemeClr val="dk1"/>
                        </a:buClr>
                        <a:buSzPts val="1800"/>
                        <a:buFont typeface="Calibri"/>
                        <a:buNone/>
                      </a:pPr>
                      <a:endParaRPr sz="1800" b="1" i="0" u="none" strike="noStrike" cap="none">
                        <a:solidFill>
                          <a:schemeClr val="dk1"/>
                        </a:solidFill>
                        <a:latin typeface="EB Garamond"/>
                        <a:ea typeface="EB Garamond"/>
                        <a:cs typeface="EB Garamond"/>
                        <a:sym typeface="EB Garamond"/>
                      </a:endParaRPr>
                    </a:p>
                    <a:p>
                      <a:pPr marL="0" marR="0" lvl="0" indent="0" algn="ctr" rtl="0">
                        <a:lnSpc>
                          <a:spcPct val="100000"/>
                        </a:lnSpc>
                        <a:spcBef>
                          <a:spcPts val="0"/>
                        </a:spcBef>
                        <a:spcAft>
                          <a:spcPts val="0"/>
                        </a:spcAft>
                        <a:buClr>
                          <a:schemeClr val="dk1"/>
                        </a:buClr>
                        <a:buSzPts val="1800"/>
                        <a:buFont typeface="Calibri"/>
                        <a:buNone/>
                      </a:pPr>
                      <a:endParaRPr sz="1800" b="1" i="0" u="none" strike="noStrike" cap="none">
                        <a:solidFill>
                          <a:schemeClr val="dk1"/>
                        </a:solidFill>
                        <a:latin typeface="EB Garamond"/>
                        <a:ea typeface="EB Garamond"/>
                        <a:cs typeface="EB Garamond"/>
                        <a:sym typeface="EB Garamond"/>
                      </a:endParaRPr>
                    </a:p>
                    <a:p>
                      <a:pPr marL="0" marR="0" lvl="0" indent="0" algn="ctr" rtl="0">
                        <a:lnSpc>
                          <a:spcPct val="100000"/>
                        </a:lnSpc>
                        <a:spcBef>
                          <a:spcPts val="0"/>
                        </a:spcBef>
                        <a:spcAft>
                          <a:spcPts val="0"/>
                        </a:spcAft>
                        <a:buClr>
                          <a:schemeClr val="dk1"/>
                        </a:buClr>
                        <a:buSzPts val="1800"/>
                        <a:buFont typeface="EB Garamond"/>
                        <a:buNone/>
                      </a:pPr>
                      <a:r>
                        <a:rPr lang="en-US" sz="1800" b="1" i="0" u="none" strike="noStrike" cap="none">
                          <a:solidFill>
                            <a:schemeClr val="dk1"/>
                          </a:solidFill>
                          <a:latin typeface="EB Garamond"/>
                          <a:ea typeface="EB Garamond"/>
                          <a:cs typeface="EB Garamond"/>
                          <a:sym typeface="EB Garamond"/>
                        </a:rPr>
                        <a:t>3</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fontAlgn="base"/>
                      <a:r>
                        <a:rPr lang="en-US" b="1" dirty="0">
                          <a:solidFill>
                            <a:schemeClr val="tx1">
                              <a:lumMod val="95000"/>
                              <a:lumOff val="5000"/>
                            </a:schemeClr>
                          </a:solidFill>
                          <a:effectLst/>
                        </a:rPr>
                        <a:t>Housing Price Prediction Model Using Machine Learning</a:t>
                      </a:r>
                      <a:r>
                        <a:rPr lang="en-US" dirty="0">
                          <a:solidFill>
                            <a:schemeClr val="tx1">
                              <a:lumMod val="95000"/>
                              <a:lumOff val="5000"/>
                            </a:schemeClr>
                          </a:solidFill>
                          <a:effectLst/>
                        </a:rPr>
                        <a:t> (Aman Chaurasia et al., ICSEIET, 2023)</a:t>
                      </a:r>
                    </a:p>
                  </a:txBody>
                  <a:tcPr anchor="ctr">
                    <a:lnL w="12700" cap="flat" cmpd="sng">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fontAlgn="base"/>
                      <a:r>
                        <a:rPr lang="en-US" dirty="0">
                          <a:solidFill>
                            <a:schemeClr val="tx1">
                              <a:lumMod val="95000"/>
                              <a:lumOff val="5000"/>
                            </a:schemeClr>
                          </a:solidFill>
                          <a:effectLst/>
                        </a:rPr>
                        <a:t>Explores multiple ML approaches for price prediction. Reinforces the value of regression models and preprocessing.</a:t>
                      </a:r>
                    </a:p>
                  </a:txBody>
                  <a:tcPr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fontAlgn="base"/>
                      <a:r>
                        <a:rPr lang="en-IN" b="0" u="none" strike="noStrike" dirty="0">
                          <a:solidFill>
                            <a:schemeClr val="tx1">
                              <a:lumMod val="95000"/>
                              <a:lumOff val="5000"/>
                            </a:schemeClr>
                          </a:solidFill>
                          <a:effectLst/>
                        </a:rPr>
                        <a:t>https://ieeexplore.ieee.org/document/10303359</a:t>
                      </a:r>
                    </a:p>
                  </a:txBody>
                  <a:tcPr anchor="ctr">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bl>
          </a:graphicData>
        </a:graphic>
      </p:graphicFrame>
      <p:sp>
        <p:nvSpPr>
          <p:cNvPr id="143" name="Google Shape;143;p6"/>
          <p:cNvSpPr txBox="1"/>
          <p:nvPr/>
        </p:nvSpPr>
        <p:spPr>
          <a:xfrm>
            <a:off x="0" y="0"/>
            <a:ext cx="9144000" cy="857250"/>
          </a:xfrm>
          <a:prstGeom prst="rect">
            <a:avLst/>
          </a:prstGeom>
          <a:noFill/>
          <a:ln>
            <a:noFill/>
          </a:ln>
        </p:spPr>
        <p:txBody>
          <a:bodyPr spcFirstLastPara="1" wrap="square" lIns="91425" tIns="45700" rIns="91425" bIns="45700" anchor="t" anchorCtr="0">
            <a:noAutofit/>
          </a:bodyPr>
          <a:lstStyle/>
          <a:p>
            <a:pPr lvl="0" algn="ctr">
              <a:buClr>
                <a:schemeClr val="dk2"/>
              </a:buClr>
              <a:buSzPts val="2400"/>
            </a:pPr>
            <a:r>
              <a:rPr lang="en-US" sz="2400" b="1" dirty="0">
                <a:solidFill>
                  <a:schemeClr val="dk2"/>
                </a:solidFill>
                <a:latin typeface="EB Garamond"/>
                <a:ea typeface="EB Garamond"/>
                <a:cs typeface="EB Garamond"/>
                <a:sym typeface="EB Garamond"/>
              </a:rPr>
              <a:t>HOUSE PRICE PREDICTION</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7"/>
          <p:cNvSpPr txBox="1">
            <a:spLocks noGrp="1"/>
          </p:cNvSpPr>
          <p:nvPr>
            <p:ph type="body" idx="1"/>
          </p:nvPr>
        </p:nvSpPr>
        <p:spPr>
          <a:xfrm>
            <a:off x="0" y="714375"/>
            <a:ext cx="9144000" cy="50006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7030A0"/>
              </a:buClr>
              <a:buSzPts val="2400"/>
              <a:buFont typeface="Arial"/>
              <a:buNone/>
            </a:pPr>
            <a:r>
              <a:rPr lang="en-US" sz="2400" b="1" i="0" u="none">
                <a:solidFill>
                  <a:srgbClr val="7030A0"/>
                </a:solidFill>
                <a:latin typeface="EB Garamond"/>
                <a:ea typeface="EB Garamond"/>
                <a:cs typeface="EB Garamond"/>
                <a:sym typeface="EB Garamond"/>
              </a:rPr>
              <a:t>Literature Review:</a:t>
            </a:r>
            <a:endParaRPr/>
          </a:p>
          <a:p>
            <a:pPr marL="342900" marR="0" lvl="0" indent="-342900" algn="l" rtl="0">
              <a:lnSpc>
                <a:spcPct val="100000"/>
              </a:lnSpc>
              <a:spcBef>
                <a:spcPts val="480"/>
              </a:spcBef>
              <a:spcAft>
                <a:spcPts val="0"/>
              </a:spcAft>
              <a:buClr>
                <a:schemeClr val="dk1"/>
              </a:buClr>
              <a:buSzPts val="2400"/>
              <a:buFont typeface="Arial"/>
              <a:buNone/>
            </a:pPr>
            <a:endParaRPr sz="2400" b="1" i="0" u="none">
              <a:solidFill>
                <a:schemeClr val="dk1"/>
              </a:solidFill>
              <a:latin typeface="EB Garamond"/>
              <a:ea typeface="EB Garamond"/>
              <a:cs typeface="EB Garamond"/>
              <a:sym typeface="EB Garamond"/>
            </a:endParaRPr>
          </a:p>
          <a:p>
            <a:pPr marL="342900" marR="0" lvl="0" indent="-190500" algn="l" rtl="0">
              <a:lnSpc>
                <a:spcPct val="100000"/>
              </a:lnSpc>
              <a:spcBef>
                <a:spcPts val="480"/>
              </a:spcBef>
              <a:spcAft>
                <a:spcPts val="0"/>
              </a:spcAft>
              <a:buClr>
                <a:schemeClr val="dk1"/>
              </a:buClr>
              <a:buSzPts val="2400"/>
              <a:buFont typeface="Arial"/>
              <a:buNone/>
            </a:pPr>
            <a:endParaRPr sz="2400" b="1" i="0" u="none">
              <a:solidFill>
                <a:schemeClr val="dk1"/>
              </a:solidFill>
              <a:latin typeface="EB Garamond"/>
              <a:ea typeface="EB Garamond"/>
              <a:cs typeface="EB Garamond"/>
              <a:sym typeface="EB Garamond"/>
            </a:endParaRPr>
          </a:p>
        </p:txBody>
      </p:sp>
      <p:sp>
        <p:nvSpPr>
          <p:cNvPr id="149" name="Google Shape;149;p7"/>
          <p:cNvSpPr txBox="1"/>
          <p:nvPr/>
        </p:nvSpPr>
        <p:spPr>
          <a:xfrm>
            <a:off x="6553200" y="4767262"/>
            <a:ext cx="2133600" cy="274637"/>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strike="noStrike" cap="none">
                <a:solidFill>
                  <a:srgbClr val="898989"/>
                </a:solidFill>
                <a:latin typeface="Calibri"/>
                <a:ea typeface="Calibri"/>
                <a:cs typeface="Calibri"/>
                <a:sym typeface="Calibri"/>
              </a:rPr>
              <a:t>9</a:t>
            </a:fld>
            <a:endParaRPr sz="1400" b="0" i="0" u="none" strike="noStrike" cap="none">
              <a:solidFill>
                <a:srgbClr val="000000"/>
              </a:solidFill>
              <a:latin typeface="Arial"/>
              <a:ea typeface="Arial"/>
              <a:cs typeface="Arial"/>
              <a:sym typeface="Arial"/>
            </a:endParaRPr>
          </a:p>
        </p:txBody>
      </p:sp>
      <p:graphicFrame>
        <p:nvGraphicFramePr>
          <p:cNvPr id="150" name="Google Shape;150;p7"/>
          <p:cNvGraphicFramePr/>
          <p:nvPr>
            <p:extLst>
              <p:ext uri="{D42A27DB-BD31-4B8C-83A1-F6EECF244321}">
                <p14:modId xmlns:p14="http://schemas.microsoft.com/office/powerpoint/2010/main" val="2425929057"/>
              </p:ext>
            </p:extLst>
          </p:nvPr>
        </p:nvGraphicFramePr>
        <p:xfrm>
          <a:off x="142875" y="1214437"/>
          <a:ext cx="8786775" cy="3749990"/>
        </p:xfrm>
        <a:graphic>
          <a:graphicData uri="http://schemas.openxmlformats.org/drawingml/2006/table">
            <a:tbl>
              <a:tblPr>
                <a:noFill/>
                <a:tableStyleId>{97BA896C-5A56-4E20-B309-1431A78C2CCE}</a:tableStyleId>
              </a:tblPr>
              <a:tblGrid>
                <a:gridCol w="928675">
                  <a:extLst>
                    <a:ext uri="{9D8B030D-6E8A-4147-A177-3AD203B41FA5}">
                      <a16:colId xmlns:a16="http://schemas.microsoft.com/office/drawing/2014/main" val="20000"/>
                    </a:ext>
                  </a:extLst>
                </a:gridCol>
                <a:gridCol w="2928925">
                  <a:extLst>
                    <a:ext uri="{9D8B030D-6E8A-4147-A177-3AD203B41FA5}">
                      <a16:colId xmlns:a16="http://schemas.microsoft.com/office/drawing/2014/main" val="20001"/>
                    </a:ext>
                  </a:extLst>
                </a:gridCol>
                <a:gridCol w="3429000">
                  <a:extLst>
                    <a:ext uri="{9D8B030D-6E8A-4147-A177-3AD203B41FA5}">
                      <a16:colId xmlns:a16="http://schemas.microsoft.com/office/drawing/2014/main" val="20002"/>
                    </a:ext>
                  </a:extLst>
                </a:gridCol>
                <a:gridCol w="1500175">
                  <a:extLst>
                    <a:ext uri="{9D8B030D-6E8A-4147-A177-3AD203B41FA5}">
                      <a16:colId xmlns:a16="http://schemas.microsoft.com/office/drawing/2014/main" val="20003"/>
                    </a:ext>
                  </a:extLst>
                </a:gridCol>
              </a:tblGrid>
              <a:tr h="639750">
                <a:tc>
                  <a:txBody>
                    <a:bodyPr/>
                    <a:lstStyle/>
                    <a:p>
                      <a:pPr marL="0" marR="0" lvl="0" indent="0" algn="ctr" rtl="0">
                        <a:lnSpc>
                          <a:spcPct val="100000"/>
                        </a:lnSpc>
                        <a:spcBef>
                          <a:spcPts val="0"/>
                        </a:spcBef>
                        <a:spcAft>
                          <a:spcPts val="0"/>
                        </a:spcAft>
                        <a:buClr>
                          <a:schemeClr val="dk1"/>
                        </a:buClr>
                        <a:buSzPts val="1800"/>
                        <a:buFont typeface="EB Garamond"/>
                        <a:buNone/>
                      </a:pPr>
                      <a:r>
                        <a:rPr lang="en-US" sz="1800" b="1" i="0" u="none" strike="noStrike" cap="none">
                          <a:solidFill>
                            <a:schemeClr val="dk1"/>
                          </a:solidFill>
                          <a:latin typeface="EB Garamond"/>
                          <a:ea typeface="EB Garamond"/>
                          <a:cs typeface="EB Garamond"/>
                          <a:sym typeface="EB Garamond"/>
                        </a:rPr>
                        <a:t>S.No</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800"/>
                        <a:buFont typeface="EB Garamond"/>
                        <a:buNone/>
                      </a:pPr>
                      <a:r>
                        <a:rPr lang="en-US" sz="1800" b="1" i="0" u="none" strike="noStrike" cap="none">
                          <a:solidFill>
                            <a:schemeClr val="dk1"/>
                          </a:solidFill>
                          <a:latin typeface="EB Garamond"/>
                          <a:ea typeface="EB Garamond"/>
                          <a:cs typeface="EB Garamond"/>
                          <a:sym typeface="EB Garamond"/>
                        </a:rPr>
                        <a:t>Title of the Paper</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800"/>
                        <a:buFont typeface="EB Garamond"/>
                        <a:buNone/>
                      </a:pPr>
                      <a:r>
                        <a:rPr lang="en-US" sz="1800" b="1" i="0" u="none" strike="noStrike" cap="none">
                          <a:solidFill>
                            <a:schemeClr val="dk1"/>
                          </a:solidFill>
                          <a:latin typeface="EB Garamond"/>
                          <a:ea typeface="EB Garamond"/>
                          <a:cs typeface="EB Garamond"/>
                          <a:sym typeface="EB Garamond"/>
                        </a:rPr>
                        <a:t>Inference</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800"/>
                        <a:buFont typeface="EB Garamond"/>
                        <a:buNone/>
                      </a:pPr>
                      <a:r>
                        <a:rPr lang="en-US" sz="1800" b="1" i="0" u="none" strike="noStrike" cap="none">
                          <a:solidFill>
                            <a:schemeClr val="dk1"/>
                          </a:solidFill>
                          <a:latin typeface="EB Garamond"/>
                          <a:ea typeface="EB Garamond"/>
                          <a:cs typeface="EB Garamond"/>
                          <a:sym typeface="EB Garamond"/>
                        </a:rPr>
                        <a:t>Link/ DoI/ Reference</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109900">
                <a:tc>
                  <a:txBody>
                    <a:bodyPr/>
                    <a:lstStyle/>
                    <a:p>
                      <a:pPr marL="0" marR="0" lvl="0" indent="0" algn="ctr" rtl="0">
                        <a:lnSpc>
                          <a:spcPct val="100000"/>
                        </a:lnSpc>
                        <a:spcBef>
                          <a:spcPts val="0"/>
                        </a:spcBef>
                        <a:spcAft>
                          <a:spcPts val="0"/>
                        </a:spcAft>
                        <a:buClr>
                          <a:schemeClr val="dk1"/>
                        </a:buClr>
                        <a:buSzPts val="1800"/>
                        <a:buFont typeface="Calibri"/>
                        <a:buNone/>
                      </a:pPr>
                      <a:endParaRPr sz="1800" b="1" i="0" u="none" strike="noStrike" cap="none">
                        <a:solidFill>
                          <a:schemeClr val="dk1"/>
                        </a:solidFill>
                        <a:latin typeface="EB Garamond"/>
                        <a:ea typeface="EB Garamond"/>
                        <a:cs typeface="EB Garamond"/>
                        <a:sym typeface="EB Garamond"/>
                      </a:endParaRPr>
                    </a:p>
                    <a:p>
                      <a:pPr marL="0" marR="0" lvl="0" indent="0" algn="ctr" rtl="0">
                        <a:lnSpc>
                          <a:spcPct val="100000"/>
                        </a:lnSpc>
                        <a:spcBef>
                          <a:spcPts val="0"/>
                        </a:spcBef>
                        <a:spcAft>
                          <a:spcPts val="0"/>
                        </a:spcAft>
                        <a:buClr>
                          <a:schemeClr val="dk1"/>
                        </a:buClr>
                        <a:buSzPts val="1800"/>
                        <a:buFont typeface="Calibri"/>
                        <a:buNone/>
                      </a:pPr>
                      <a:endParaRPr sz="1800" b="1" i="0" u="none" strike="noStrike" cap="none">
                        <a:solidFill>
                          <a:schemeClr val="dk1"/>
                        </a:solidFill>
                        <a:latin typeface="EB Garamond"/>
                        <a:ea typeface="EB Garamond"/>
                        <a:cs typeface="EB Garamond"/>
                        <a:sym typeface="EB Garamond"/>
                      </a:endParaRPr>
                    </a:p>
                    <a:p>
                      <a:pPr marL="0" marR="0" lvl="0" indent="0" algn="ctr" rtl="0">
                        <a:lnSpc>
                          <a:spcPct val="100000"/>
                        </a:lnSpc>
                        <a:spcBef>
                          <a:spcPts val="0"/>
                        </a:spcBef>
                        <a:spcAft>
                          <a:spcPts val="0"/>
                        </a:spcAft>
                        <a:buClr>
                          <a:schemeClr val="dk1"/>
                        </a:buClr>
                        <a:buSzPts val="1800"/>
                        <a:buFont typeface="Calibri"/>
                        <a:buNone/>
                      </a:pPr>
                      <a:endParaRPr sz="1800" b="1" i="0" u="none" strike="noStrike" cap="none">
                        <a:solidFill>
                          <a:schemeClr val="dk1"/>
                        </a:solidFill>
                        <a:latin typeface="EB Garamond"/>
                        <a:ea typeface="EB Garamond"/>
                        <a:cs typeface="EB Garamond"/>
                        <a:sym typeface="EB Garamond"/>
                      </a:endParaRPr>
                    </a:p>
                    <a:p>
                      <a:pPr marL="0" marR="0" lvl="0" indent="0" algn="ctr" rtl="0">
                        <a:lnSpc>
                          <a:spcPct val="100000"/>
                        </a:lnSpc>
                        <a:spcBef>
                          <a:spcPts val="0"/>
                        </a:spcBef>
                        <a:spcAft>
                          <a:spcPts val="0"/>
                        </a:spcAft>
                        <a:buClr>
                          <a:schemeClr val="dk1"/>
                        </a:buClr>
                        <a:buSzPts val="1800"/>
                        <a:buFont typeface="Calibri"/>
                        <a:buNone/>
                      </a:pPr>
                      <a:endParaRPr sz="1800" b="1" i="0" u="none" strike="noStrike" cap="none">
                        <a:solidFill>
                          <a:schemeClr val="dk1"/>
                        </a:solidFill>
                        <a:latin typeface="EB Garamond"/>
                        <a:ea typeface="EB Garamond"/>
                        <a:cs typeface="EB Garamond"/>
                        <a:sym typeface="EB Garamond"/>
                      </a:endParaRPr>
                    </a:p>
                    <a:p>
                      <a:pPr marL="0" marR="0" lvl="0" indent="0" algn="ctr" rtl="0">
                        <a:lnSpc>
                          <a:spcPct val="100000"/>
                        </a:lnSpc>
                        <a:spcBef>
                          <a:spcPts val="0"/>
                        </a:spcBef>
                        <a:spcAft>
                          <a:spcPts val="0"/>
                        </a:spcAft>
                        <a:buClr>
                          <a:schemeClr val="dk1"/>
                        </a:buClr>
                        <a:buSzPts val="1800"/>
                        <a:buFont typeface="Calibri"/>
                        <a:buNone/>
                      </a:pPr>
                      <a:endParaRPr sz="1800" b="1" i="0" u="none" strike="noStrike" cap="none">
                        <a:solidFill>
                          <a:schemeClr val="dk1"/>
                        </a:solidFill>
                        <a:latin typeface="EB Garamond"/>
                        <a:ea typeface="EB Garamond"/>
                        <a:cs typeface="EB Garamond"/>
                        <a:sym typeface="EB Garamond"/>
                      </a:endParaRPr>
                    </a:p>
                    <a:p>
                      <a:pPr marL="0" marR="0" lvl="0" indent="0" algn="ctr" rtl="0">
                        <a:lnSpc>
                          <a:spcPct val="100000"/>
                        </a:lnSpc>
                        <a:spcBef>
                          <a:spcPts val="0"/>
                        </a:spcBef>
                        <a:spcAft>
                          <a:spcPts val="0"/>
                        </a:spcAft>
                        <a:buClr>
                          <a:schemeClr val="dk1"/>
                        </a:buClr>
                        <a:buSzPts val="1800"/>
                        <a:buFont typeface="EB Garamond"/>
                        <a:buNone/>
                      </a:pPr>
                      <a:r>
                        <a:rPr lang="en-US" sz="1800" b="1" i="0" u="none" strike="noStrike" cap="none">
                          <a:solidFill>
                            <a:schemeClr val="dk1"/>
                          </a:solidFill>
                          <a:latin typeface="EB Garamond"/>
                          <a:ea typeface="EB Garamond"/>
                          <a:cs typeface="EB Garamond"/>
                          <a:sym typeface="EB Garamond"/>
                        </a:rPr>
                        <a:t>4</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fontAlgn="base"/>
                      <a:r>
                        <a:rPr lang="en-IN" b="1" dirty="0">
                          <a:solidFill>
                            <a:schemeClr val="tx1">
                              <a:lumMod val="95000"/>
                              <a:lumOff val="5000"/>
                            </a:schemeClr>
                          </a:solidFill>
                          <a:effectLst/>
                        </a:rPr>
                        <a:t>House Price Prediction using Machine Learning Algorithm – Karachi City, Pakistan</a:t>
                      </a:r>
                      <a:r>
                        <a:rPr lang="en-IN" dirty="0">
                          <a:solidFill>
                            <a:schemeClr val="tx1">
                              <a:lumMod val="95000"/>
                              <a:lumOff val="5000"/>
                            </a:schemeClr>
                          </a:solidFill>
                          <a:effectLst/>
                        </a:rPr>
                        <a:t> (Maida </a:t>
                      </a:r>
                      <a:r>
                        <a:rPr lang="en-IN" dirty="0" err="1">
                          <a:solidFill>
                            <a:schemeClr val="tx1">
                              <a:lumMod val="95000"/>
                              <a:lumOff val="5000"/>
                            </a:schemeClr>
                          </a:solidFill>
                          <a:effectLst/>
                        </a:rPr>
                        <a:t>Ahtesham</a:t>
                      </a:r>
                      <a:r>
                        <a:rPr lang="en-IN" dirty="0">
                          <a:solidFill>
                            <a:schemeClr val="tx1">
                              <a:lumMod val="95000"/>
                              <a:lumOff val="5000"/>
                            </a:schemeClr>
                          </a:solidFill>
                          <a:effectLst/>
                        </a:rPr>
                        <a:t> et al., ACIT, 2020)</a:t>
                      </a:r>
                    </a:p>
                  </a:txBody>
                  <a:tcPr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fontAlgn="base"/>
                      <a:r>
                        <a:rPr lang="en-US">
                          <a:solidFill>
                            <a:schemeClr val="tx1">
                              <a:lumMod val="95000"/>
                              <a:lumOff val="5000"/>
                            </a:schemeClr>
                          </a:solidFill>
                          <a:effectLst/>
                        </a:rPr>
                        <a:t>Applies ML for real-world city-level housing data, showing ensemble learning’s potential in noisy markets.</a:t>
                      </a:r>
                    </a:p>
                  </a:txBody>
                  <a:tcPr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fontAlgn="base"/>
                      <a:r>
                        <a:rPr lang="en-IN" b="0" u="none" strike="noStrike" dirty="0">
                          <a:solidFill>
                            <a:schemeClr val="tx1">
                              <a:lumMod val="95000"/>
                              <a:lumOff val="5000"/>
                            </a:schemeClr>
                          </a:solidFill>
                          <a:effectLst/>
                        </a:rPr>
                        <a:t>https://ieeexplore.ieee.org/document/9300074</a:t>
                      </a:r>
                      <a:endParaRPr lang="en-IN" dirty="0">
                        <a:solidFill>
                          <a:schemeClr val="tx1">
                            <a:lumMod val="95000"/>
                            <a:lumOff val="5000"/>
                          </a:schemeClr>
                        </a:solidFill>
                        <a:effectLst/>
                      </a:endParaRPr>
                    </a:p>
                  </a:txBody>
                  <a:tcPr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bl>
          </a:graphicData>
        </a:graphic>
      </p:graphicFrame>
      <p:sp>
        <p:nvSpPr>
          <p:cNvPr id="151" name="Google Shape;151;p7"/>
          <p:cNvSpPr txBox="1"/>
          <p:nvPr/>
        </p:nvSpPr>
        <p:spPr>
          <a:xfrm>
            <a:off x="0" y="0"/>
            <a:ext cx="9144000" cy="857250"/>
          </a:xfrm>
          <a:prstGeom prst="rect">
            <a:avLst/>
          </a:prstGeom>
          <a:noFill/>
          <a:ln>
            <a:noFill/>
          </a:ln>
        </p:spPr>
        <p:txBody>
          <a:bodyPr spcFirstLastPara="1" wrap="square" lIns="91425" tIns="45700" rIns="91425" bIns="45700" anchor="t" anchorCtr="0">
            <a:noAutofit/>
          </a:bodyPr>
          <a:lstStyle/>
          <a:p>
            <a:pPr lvl="0" algn="ctr">
              <a:buClr>
                <a:schemeClr val="dk2"/>
              </a:buClr>
              <a:buSzPts val="2400"/>
            </a:pPr>
            <a:r>
              <a:rPr lang="en-US" sz="2400" b="1" dirty="0">
                <a:solidFill>
                  <a:schemeClr val="dk2"/>
                </a:solidFill>
                <a:latin typeface="EB Garamond"/>
                <a:ea typeface="EB Garamond"/>
                <a:cs typeface="EB Garamond"/>
                <a:sym typeface="EB Garamond"/>
              </a:rPr>
              <a:t>HOUSE PRICE PREDICTION</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8"/>
          <p:cNvSpPr txBox="1">
            <a:spLocks noGrp="1"/>
          </p:cNvSpPr>
          <p:nvPr>
            <p:ph type="body" idx="1"/>
          </p:nvPr>
        </p:nvSpPr>
        <p:spPr>
          <a:xfrm>
            <a:off x="0" y="714375"/>
            <a:ext cx="9144000" cy="50006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7030A0"/>
              </a:buClr>
              <a:buSzPts val="2400"/>
              <a:buFont typeface="Arial"/>
              <a:buNone/>
            </a:pPr>
            <a:r>
              <a:rPr lang="en-US" sz="2400" b="1" i="0" u="none">
                <a:solidFill>
                  <a:srgbClr val="7030A0"/>
                </a:solidFill>
                <a:latin typeface="EB Garamond"/>
                <a:ea typeface="EB Garamond"/>
                <a:cs typeface="EB Garamond"/>
                <a:sym typeface="EB Garamond"/>
              </a:rPr>
              <a:t>Literature Review:</a:t>
            </a:r>
            <a:endParaRPr/>
          </a:p>
          <a:p>
            <a:pPr marL="342900" marR="0" lvl="0" indent="-342900" algn="l" rtl="0">
              <a:lnSpc>
                <a:spcPct val="100000"/>
              </a:lnSpc>
              <a:spcBef>
                <a:spcPts val="480"/>
              </a:spcBef>
              <a:spcAft>
                <a:spcPts val="0"/>
              </a:spcAft>
              <a:buClr>
                <a:schemeClr val="dk1"/>
              </a:buClr>
              <a:buSzPts val="2400"/>
              <a:buFont typeface="Arial"/>
              <a:buNone/>
            </a:pPr>
            <a:endParaRPr sz="2400" b="1" i="0" u="none">
              <a:solidFill>
                <a:schemeClr val="dk1"/>
              </a:solidFill>
              <a:latin typeface="EB Garamond"/>
              <a:ea typeface="EB Garamond"/>
              <a:cs typeface="EB Garamond"/>
              <a:sym typeface="EB Garamond"/>
            </a:endParaRPr>
          </a:p>
          <a:p>
            <a:pPr marL="342900" marR="0" lvl="0" indent="-190500" algn="l" rtl="0">
              <a:lnSpc>
                <a:spcPct val="100000"/>
              </a:lnSpc>
              <a:spcBef>
                <a:spcPts val="480"/>
              </a:spcBef>
              <a:spcAft>
                <a:spcPts val="0"/>
              </a:spcAft>
              <a:buClr>
                <a:schemeClr val="dk1"/>
              </a:buClr>
              <a:buSzPts val="2400"/>
              <a:buFont typeface="Arial"/>
              <a:buNone/>
            </a:pPr>
            <a:endParaRPr sz="2400" b="1" i="0" u="none">
              <a:solidFill>
                <a:schemeClr val="dk1"/>
              </a:solidFill>
              <a:latin typeface="EB Garamond"/>
              <a:ea typeface="EB Garamond"/>
              <a:cs typeface="EB Garamond"/>
              <a:sym typeface="EB Garamond"/>
            </a:endParaRPr>
          </a:p>
        </p:txBody>
      </p:sp>
      <p:sp>
        <p:nvSpPr>
          <p:cNvPr id="157" name="Google Shape;157;p8"/>
          <p:cNvSpPr txBox="1"/>
          <p:nvPr/>
        </p:nvSpPr>
        <p:spPr>
          <a:xfrm>
            <a:off x="6553200" y="4767262"/>
            <a:ext cx="2133600" cy="274637"/>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strike="noStrike" cap="none">
                <a:solidFill>
                  <a:srgbClr val="898989"/>
                </a:solidFill>
                <a:latin typeface="Calibri"/>
                <a:ea typeface="Calibri"/>
                <a:cs typeface="Calibri"/>
                <a:sym typeface="Calibri"/>
              </a:rPr>
              <a:t>10</a:t>
            </a:fld>
            <a:endParaRPr sz="1400" b="0" i="0" u="none" strike="noStrike" cap="none">
              <a:solidFill>
                <a:srgbClr val="000000"/>
              </a:solidFill>
              <a:latin typeface="Arial"/>
              <a:ea typeface="Arial"/>
              <a:cs typeface="Arial"/>
              <a:sym typeface="Arial"/>
            </a:endParaRPr>
          </a:p>
        </p:txBody>
      </p:sp>
      <p:graphicFrame>
        <p:nvGraphicFramePr>
          <p:cNvPr id="158" name="Google Shape;158;p8"/>
          <p:cNvGraphicFramePr/>
          <p:nvPr>
            <p:extLst>
              <p:ext uri="{D42A27DB-BD31-4B8C-83A1-F6EECF244321}">
                <p14:modId xmlns:p14="http://schemas.microsoft.com/office/powerpoint/2010/main" val="3446870365"/>
              </p:ext>
            </p:extLst>
          </p:nvPr>
        </p:nvGraphicFramePr>
        <p:xfrm>
          <a:off x="142875" y="1214437"/>
          <a:ext cx="8786775" cy="3749990"/>
        </p:xfrm>
        <a:graphic>
          <a:graphicData uri="http://schemas.openxmlformats.org/drawingml/2006/table">
            <a:tbl>
              <a:tblPr>
                <a:noFill/>
                <a:tableStyleId>{97BA896C-5A56-4E20-B309-1431A78C2CCE}</a:tableStyleId>
              </a:tblPr>
              <a:tblGrid>
                <a:gridCol w="928675">
                  <a:extLst>
                    <a:ext uri="{9D8B030D-6E8A-4147-A177-3AD203B41FA5}">
                      <a16:colId xmlns:a16="http://schemas.microsoft.com/office/drawing/2014/main" val="20000"/>
                    </a:ext>
                  </a:extLst>
                </a:gridCol>
                <a:gridCol w="2928925">
                  <a:extLst>
                    <a:ext uri="{9D8B030D-6E8A-4147-A177-3AD203B41FA5}">
                      <a16:colId xmlns:a16="http://schemas.microsoft.com/office/drawing/2014/main" val="20001"/>
                    </a:ext>
                  </a:extLst>
                </a:gridCol>
                <a:gridCol w="3429000">
                  <a:extLst>
                    <a:ext uri="{9D8B030D-6E8A-4147-A177-3AD203B41FA5}">
                      <a16:colId xmlns:a16="http://schemas.microsoft.com/office/drawing/2014/main" val="20002"/>
                    </a:ext>
                  </a:extLst>
                </a:gridCol>
                <a:gridCol w="1500175">
                  <a:extLst>
                    <a:ext uri="{9D8B030D-6E8A-4147-A177-3AD203B41FA5}">
                      <a16:colId xmlns:a16="http://schemas.microsoft.com/office/drawing/2014/main" val="20003"/>
                    </a:ext>
                  </a:extLst>
                </a:gridCol>
              </a:tblGrid>
              <a:tr h="639750">
                <a:tc>
                  <a:txBody>
                    <a:bodyPr/>
                    <a:lstStyle/>
                    <a:p>
                      <a:pPr marL="0" marR="0" lvl="0" indent="0" algn="ctr" rtl="0">
                        <a:lnSpc>
                          <a:spcPct val="100000"/>
                        </a:lnSpc>
                        <a:spcBef>
                          <a:spcPts val="0"/>
                        </a:spcBef>
                        <a:spcAft>
                          <a:spcPts val="0"/>
                        </a:spcAft>
                        <a:buClr>
                          <a:schemeClr val="dk1"/>
                        </a:buClr>
                        <a:buSzPts val="1800"/>
                        <a:buFont typeface="EB Garamond"/>
                        <a:buNone/>
                      </a:pPr>
                      <a:r>
                        <a:rPr lang="en-US" sz="1800" b="1" i="0" u="none" strike="noStrike" cap="none">
                          <a:solidFill>
                            <a:schemeClr val="tx1">
                              <a:lumMod val="95000"/>
                              <a:lumOff val="5000"/>
                            </a:schemeClr>
                          </a:solidFill>
                          <a:latin typeface="EB Garamond"/>
                          <a:ea typeface="EB Garamond"/>
                          <a:cs typeface="EB Garamond"/>
                          <a:sym typeface="EB Garamond"/>
                        </a:rPr>
                        <a:t>S.No</a:t>
                      </a:r>
                      <a:endParaRPr sz="1400" u="none" strike="noStrike" cap="none">
                        <a:solidFill>
                          <a:schemeClr val="tx1">
                            <a:lumMod val="95000"/>
                            <a:lumOff val="5000"/>
                          </a:schemeClr>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800"/>
                        <a:buFont typeface="EB Garamond"/>
                        <a:buNone/>
                      </a:pPr>
                      <a:r>
                        <a:rPr lang="en-US" sz="1800" b="1" i="0" u="none" strike="noStrike" cap="none">
                          <a:solidFill>
                            <a:schemeClr val="tx1">
                              <a:lumMod val="95000"/>
                              <a:lumOff val="5000"/>
                            </a:schemeClr>
                          </a:solidFill>
                          <a:latin typeface="EB Garamond"/>
                          <a:ea typeface="EB Garamond"/>
                          <a:cs typeface="EB Garamond"/>
                          <a:sym typeface="EB Garamond"/>
                        </a:rPr>
                        <a:t>Title of the Paper</a:t>
                      </a:r>
                      <a:endParaRPr sz="1400" u="none" strike="noStrike" cap="none">
                        <a:solidFill>
                          <a:schemeClr val="tx1">
                            <a:lumMod val="95000"/>
                            <a:lumOff val="5000"/>
                          </a:schemeClr>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800"/>
                        <a:buFont typeface="EB Garamond"/>
                        <a:buNone/>
                      </a:pPr>
                      <a:r>
                        <a:rPr lang="en-US" sz="1800" b="1" i="0" u="none" strike="noStrike" cap="none">
                          <a:solidFill>
                            <a:schemeClr val="tx1">
                              <a:lumMod val="95000"/>
                              <a:lumOff val="5000"/>
                            </a:schemeClr>
                          </a:solidFill>
                          <a:latin typeface="EB Garamond"/>
                          <a:ea typeface="EB Garamond"/>
                          <a:cs typeface="EB Garamond"/>
                          <a:sym typeface="EB Garamond"/>
                        </a:rPr>
                        <a:t>Inference</a:t>
                      </a:r>
                      <a:endParaRPr sz="1400" u="none" strike="noStrike" cap="none">
                        <a:solidFill>
                          <a:schemeClr val="tx1">
                            <a:lumMod val="95000"/>
                            <a:lumOff val="5000"/>
                          </a:schemeClr>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800"/>
                        <a:buFont typeface="EB Garamond"/>
                        <a:buNone/>
                      </a:pPr>
                      <a:r>
                        <a:rPr lang="en-US" sz="1800" b="1" i="0" u="none" strike="noStrike" cap="none">
                          <a:solidFill>
                            <a:schemeClr val="tx1">
                              <a:lumMod val="95000"/>
                              <a:lumOff val="5000"/>
                            </a:schemeClr>
                          </a:solidFill>
                          <a:latin typeface="EB Garamond"/>
                          <a:ea typeface="EB Garamond"/>
                          <a:cs typeface="EB Garamond"/>
                          <a:sym typeface="EB Garamond"/>
                        </a:rPr>
                        <a:t>Link/ DoI/ Reference</a:t>
                      </a:r>
                      <a:endParaRPr sz="1400" u="none" strike="noStrike" cap="none">
                        <a:solidFill>
                          <a:schemeClr val="tx1">
                            <a:lumMod val="95000"/>
                            <a:lumOff val="5000"/>
                          </a:schemeClr>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109900">
                <a:tc>
                  <a:txBody>
                    <a:bodyPr/>
                    <a:lstStyle/>
                    <a:p>
                      <a:pPr marL="0" marR="0" lvl="0" indent="0" algn="ctr" rtl="0">
                        <a:lnSpc>
                          <a:spcPct val="100000"/>
                        </a:lnSpc>
                        <a:spcBef>
                          <a:spcPts val="0"/>
                        </a:spcBef>
                        <a:spcAft>
                          <a:spcPts val="0"/>
                        </a:spcAft>
                        <a:buClr>
                          <a:schemeClr val="dk1"/>
                        </a:buClr>
                        <a:buSzPts val="1800"/>
                        <a:buFont typeface="Calibri"/>
                        <a:buNone/>
                      </a:pPr>
                      <a:endParaRPr sz="1800" b="1" i="0" u="none" strike="noStrike" cap="none">
                        <a:solidFill>
                          <a:schemeClr val="tx1">
                            <a:lumMod val="95000"/>
                            <a:lumOff val="5000"/>
                          </a:schemeClr>
                        </a:solidFill>
                        <a:latin typeface="EB Garamond"/>
                        <a:ea typeface="EB Garamond"/>
                        <a:cs typeface="EB Garamond"/>
                        <a:sym typeface="EB Garamond"/>
                      </a:endParaRPr>
                    </a:p>
                    <a:p>
                      <a:pPr marL="0" marR="0" lvl="0" indent="0" algn="ctr" rtl="0">
                        <a:lnSpc>
                          <a:spcPct val="100000"/>
                        </a:lnSpc>
                        <a:spcBef>
                          <a:spcPts val="0"/>
                        </a:spcBef>
                        <a:spcAft>
                          <a:spcPts val="0"/>
                        </a:spcAft>
                        <a:buClr>
                          <a:schemeClr val="dk1"/>
                        </a:buClr>
                        <a:buSzPts val="1800"/>
                        <a:buFont typeface="Calibri"/>
                        <a:buNone/>
                      </a:pPr>
                      <a:endParaRPr sz="1800" b="1" i="0" u="none" strike="noStrike" cap="none">
                        <a:solidFill>
                          <a:schemeClr val="tx1">
                            <a:lumMod val="95000"/>
                            <a:lumOff val="5000"/>
                          </a:schemeClr>
                        </a:solidFill>
                        <a:latin typeface="EB Garamond"/>
                        <a:ea typeface="EB Garamond"/>
                        <a:cs typeface="EB Garamond"/>
                        <a:sym typeface="EB Garamond"/>
                      </a:endParaRPr>
                    </a:p>
                    <a:p>
                      <a:pPr marL="0" marR="0" lvl="0" indent="0" algn="ctr" rtl="0">
                        <a:lnSpc>
                          <a:spcPct val="100000"/>
                        </a:lnSpc>
                        <a:spcBef>
                          <a:spcPts val="0"/>
                        </a:spcBef>
                        <a:spcAft>
                          <a:spcPts val="0"/>
                        </a:spcAft>
                        <a:buClr>
                          <a:schemeClr val="dk1"/>
                        </a:buClr>
                        <a:buSzPts val="1800"/>
                        <a:buFont typeface="Calibri"/>
                        <a:buNone/>
                      </a:pPr>
                      <a:endParaRPr sz="1800" b="1" i="0" u="none" strike="noStrike" cap="none">
                        <a:solidFill>
                          <a:schemeClr val="tx1">
                            <a:lumMod val="95000"/>
                            <a:lumOff val="5000"/>
                          </a:schemeClr>
                        </a:solidFill>
                        <a:latin typeface="EB Garamond"/>
                        <a:ea typeface="EB Garamond"/>
                        <a:cs typeface="EB Garamond"/>
                        <a:sym typeface="EB Garamond"/>
                      </a:endParaRPr>
                    </a:p>
                    <a:p>
                      <a:pPr marL="0" marR="0" lvl="0" indent="0" algn="ctr" rtl="0">
                        <a:lnSpc>
                          <a:spcPct val="100000"/>
                        </a:lnSpc>
                        <a:spcBef>
                          <a:spcPts val="0"/>
                        </a:spcBef>
                        <a:spcAft>
                          <a:spcPts val="0"/>
                        </a:spcAft>
                        <a:buClr>
                          <a:schemeClr val="dk1"/>
                        </a:buClr>
                        <a:buSzPts val="1800"/>
                        <a:buFont typeface="Calibri"/>
                        <a:buNone/>
                      </a:pPr>
                      <a:endParaRPr sz="1800" b="1" i="0" u="none" strike="noStrike" cap="none">
                        <a:solidFill>
                          <a:schemeClr val="tx1">
                            <a:lumMod val="95000"/>
                            <a:lumOff val="5000"/>
                          </a:schemeClr>
                        </a:solidFill>
                        <a:latin typeface="EB Garamond"/>
                        <a:ea typeface="EB Garamond"/>
                        <a:cs typeface="EB Garamond"/>
                        <a:sym typeface="EB Garamond"/>
                      </a:endParaRPr>
                    </a:p>
                    <a:p>
                      <a:pPr marL="0" marR="0" lvl="0" indent="0" algn="ctr" rtl="0">
                        <a:lnSpc>
                          <a:spcPct val="100000"/>
                        </a:lnSpc>
                        <a:spcBef>
                          <a:spcPts val="0"/>
                        </a:spcBef>
                        <a:spcAft>
                          <a:spcPts val="0"/>
                        </a:spcAft>
                        <a:buClr>
                          <a:schemeClr val="dk1"/>
                        </a:buClr>
                        <a:buSzPts val="1800"/>
                        <a:buFont typeface="Calibri"/>
                        <a:buNone/>
                      </a:pPr>
                      <a:endParaRPr sz="1800" b="1" i="0" u="none" strike="noStrike" cap="none">
                        <a:solidFill>
                          <a:schemeClr val="tx1">
                            <a:lumMod val="95000"/>
                            <a:lumOff val="5000"/>
                          </a:schemeClr>
                        </a:solidFill>
                        <a:latin typeface="EB Garamond"/>
                        <a:ea typeface="EB Garamond"/>
                        <a:cs typeface="EB Garamond"/>
                        <a:sym typeface="EB Garamond"/>
                      </a:endParaRPr>
                    </a:p>
                    <a:p>
                      <a:pPr marL="0" marR="0" lvl="0" indent="0" algn="ctr" rtl="0">
                        <a:lnSpc>
                          <a:spcPct val="100000"/>
                        </a:lnSpc>
                        <a:spcBef>
                          <a:spcPts val="0"/>
                        </a:spcBef>
                        <a:spcAft>
                          <a:spcPts val="0"/>
                        </a:spcAft>
                        <a:buClr>
                          <a:schemeClr val="dk1"/>
                        </a:buClr>
                        <a:buSzPts val="1800"/>
                        <a:buFont typeface="EB Garamond"/>
                        <a:buNone/>
                      </a:pPr>
                      <a:r>
                        <a:rPr lang="en-US" sz="1800" b="1" i="0" u="none" strike="noStrike" cap="none">
                          <a:solidFill>
                            <a:schemeClr val="tx1">
                              <a:lumMod val="95000"/>
                              <a:lumOff val="5000"/>
                            </a:schemeClr>
                          </a:solidFill>
                          <a:latin typeface="EB Garamond"/>
                          <a:ea typeface="EB Garamond"/>
                          <a:cs typeface="EB Garamond"/>
                          <a:sym typeface="EB Garamond"/>
                        </a:rPr>
                        <a:t>5</a:t>
                      </a:r>
                      <a:endParaRPr sz="1400" u="none" strike="noStrike" cap="none">
                        <a:solidFill>
                          <a:schemeClr val="tx1">
                            <a:lumMod val="95000"/>
                            <a:lumOff val="5000"/>
                          </a:schemeClr>
                        </a:solidFill>
                      </a:endParaRPr>
                    </a:p>
                  </a:txBody>
                  <a:tcPr marL="91450" marR="91450" marT="45725" marB="45725">
                    <a:lnL w="12700" cap="flat" cmpd="sng">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fontAlgn="base"/>
                      <a:r>
                        <a:rPr lang="en-US" b="1" dirty="0">
                          <a:solidFill>
                            <a:schemeClr val="tx1">
                              <a:lumMod val="95000"/>
                              <a:lumOff val="5000"/>
                            </a:schemeClr>
                          </a:solidFill>
                          <a:effectLst/>
                        </a:rPr>
                        <a:t>Housing Prices Prediction with Deep Learning: Application for Taiwan Real Estate</a:t>
                      </a:r>
                      <a:r>
                        <a:rPr lang="en-US" dirty="0">
                          <a:solidFill>
                            <a:schemeClr val="tx1">
                              <a:lumMod val="95000"/>
                              <a:lumOff val="5000"/>
                            </a:schemeClr>
                          </a:solidFill>
                          <a:effectLst/>
                        </a:rPr>
                        <a:t> (</a:t>
                      </a:r>
                      <a:r>
                        <a:rPr lang="en-US" dirty="0" err="1">
                          <a:solidFill>
                            <a:schemeClr val="tx1">
                              <a:lumMod val="95000"/>
                              <a:lumOff val="5000"/>
                            </a:schemeClr>
                          </a:solidFill>
                          <a:effectLst/>
                        </a:rPr>
                        <a:t>Choujun</a:t>
                      </a:r>
                      <a:r>
                        <a:rPr lang="en-US" dirty="0">
                          <a:solidFill>
                            <a:schemeClr val="tx1">
                              <a:lumMod val="95000"/>
                              <a:lumOff val="5000"/>
                            </a:schemeClr>
                          </a:solidFill>
                          <a:effectLst/>
                        </a:rPr>
                        <a:t> Zhan et al., INDIN, 2020)</a:t>
                      </a:r>
                    </a:p>
                  </a:txBody>
                  <a:tcPr marB="18288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fontAlgn="base"/>
                      <a:r>
                        <a:rPr lang="en-US">
                          <a:solidFill>
                            <a:schemeClr val="tx1">
                              <a:lumMod val="95000"/>
                              <a:lumOff val="5000"/>
                            </a:schemeClr>
                          </a:solidFill>
                          <a:effectLst/>
                        </a:rPr>
                        <a:t>Introduces deep learning techniques for housing price prediction and compares them with traditional ML models.</a:t>
                      </a:r>
                    </a:p>
                  </a:txBody>
                  <a:tcPr marB="18288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fontAlgn="base"/>
                      <a:r>
                        <a:rPr lang="en-IN" dirty="0">
                          <a:solidFill>
                            <a:schemeClr val="tx1">
                              <a:lumMod val="95000"/>
                              <a:lumOff val="5000"/>
                            </a:schemeClr>
                          </a:solidFill>
                          <a:effectLst/>
                        </a:rPr>
                        <a:t>https://ieeexplore.ieee.org/document/9442244</a:t>
                      </a:r>
                    </a:p>
                  </a:txBody>
                  <a:tcPr marB="18288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bl>
          </a:graphicData>
        </a:graphic>
      </p:graphicFrame>
      <p:sp>
        <p:nvSpPr>
          <p:cNvPr id="159" name="Google Shape;159;p8"/>
          <p:cNvSpPr txBox="1"/>
          <p:nvPr/>
        </p:nvSpPr>
        <p:spPr>
          <a:xfrm>
            <a:off x="0" y="0"/>
            <a:ext cx="9144000" cy="857250"/>
          </a:xfrm>
          <a:prstGeom prst="rect">
            <a:avLst/>
          </a:prstGeom>
          <a:noFill/>
          <a:ln>
            <a:noFill/>
          </a:ln>
        </p:spPr>
        <p:txBody>
          <a:bodyPr spcFirstLastPara="1" wrap="square" lIns="91425" tIns="45700" rIns="91425" bIns="45700" anchor="t" anchorCtr="0">
            <a:noAutofit/>
          </a:bodyPr>
          <a:lstStyle/>
          <a:p>
            <a:pPr lvl="0" algn="ctr">
              <a:buClr>
                <a:schemeClr val="dk2"/>
              </a:buClr>
              <a:buSzPts val="2400"/>
            </a:pPr>
            <a:r>
              <a:rPr lang="en-US" sz="2400" b="1" dirty="0">
                <a:solidFill>
                  <a:schemeClr val="dk2"/>
                </a:solidFill>
                <a:latin typeface="EB Garamond"/>
                <a:ea typeface="EB Garamond"/>
                <a:cs typeface="EB Garamond"/>
                <a:sym typeface="EB Garamond"/>
              </a:rPr>
              <a:t>HOUSE PRICE PREDICTION</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31"/>
          <p:cNvSpPr txBox="1">
            <a:spLocks noGrp="1"/>
          </p:cNvSpPr>
          <p:nvPr>
            <p:ph type="body" idx="1"/>
          </p:nvPr>
        </p:nvSpPr>
        <p:spPr>
          <a:xfrm>
            <a:off x="213582" y="749639"/>
            <a:ext cx="3931253" cy="50006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7030A0"/>
              </a:buClr>
              <a:buSzPts val="2400"/>
              <a:buFont typeface="Arial"/>
              <a:buNone/>
            </a:pPr>
            <a:r>
              <a:rPr lang="en-US" sz="2400" b="1" i="0" u="none" dirty="0">
                <a:solidFill>
                  <a:srgbClr val="7030A0"/>
                </a:solidFill>
                <a:latin typeface="EB Garamond"/>
                <a:ea typeface="EB Garamond"/>
                <a:cs typeface="EB Garamond"/>
                <a:sym typeface="EB Garamond"/>
              </a:rPr>
              <a:t>Summary of Literature :</a:t>
            </a:r>
          </a:p>
        </p:txBody>
      </p:sp>
      <p:sp>
        <p:nvSpPr>
          <p:cNvPr id="165" name="Google Shape;165;p31"/>
          <p:cNvSpPr txBox="1"/>
          <p:nvPr/>
        </p:nvSpPr>
        <p:spPr>
          <a:xfrm>
            <a:off x="6553200" y="4767262"/>
            <a:ext cx="2133600" cy="274637"/>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strike="noStrike" cap="none">
                <a:solidFill>
                  <a:srgbClr val="898989"/>
                </a:solidFill>
                <a:latin typeface="Calibri"/>
                <a:ea typeface="Calibri"/>
                <a:cs typeface="Calibri"/>
                <a:sym typeface="Calibri"/>
              </a:rPr>
              <a:t>11</a:t>
            </a:fld>
            <a:endParaRPr sz="1400" b="0" i="0" u="none" strike="noStrike" cap="none">
              <a:solidFill>
                <a:srgbClr val="000000"/>
              </a:solidFill>
              <a:latin typeface="Arial"/>
              <a:ea typeface="Arial"/>
              <a:cs typeface="Arial"/>
              <a:sym typeface="Arial"/>
            </a:endParaRPr>
          </a:p>
        </p:txBody>
      </p:sp>
      <p:sp>
        <p:nvSpPr>
          <p:cNvPr id="166" name="Google Shape;166;p31"/>
          <p:cNvSpPr txBox="1"/>
          <p:nvPr/>
        </p:nvSpPr>
        <p:spPr>
          <a:xfrm>
            <a:off x="0" y="0"/>
            <a:ext cx="9144000" cy="857250"/>
          </a:xfrm>
          <a:prstGeom prst="rect">
            <a:avLst/>
          </a:prstGeom>
          <a:noFill/>
          <a:ln>
            <a:noFill/>
          </a:ln>
        </p:spPr>
        <p:txBody>
          <a:bodyPr spcFirstLastPara="1" wrap="square" lIns="91425" tIns="45700" rIns="91425" bIns="45700" anchor="t" anchorCtr="0">
            <a:noAutofit/>
          </a:bodyPr>
          <a:lstStyle/>
          <a:p>
            <a:pPr lvl="0" algn="ctr">
              <a:buClr>
                <a:schemeClr val="dk2"/>
              </a:buClr>
              <a:buSzPts val="2400"/>
            </a:pPr>
            <a:r>
              <a:rPr lang="en-US" sz="2400" b="1" dirty="0">
                <a:solidFill>
                  <a:schemeClr val="dk2"/>
                </a:solidFill>
                <a:latin typeface="EB Garamond"/>
                <a:ea typeface="EB Garamond"/>
                <a:cs typeface="EB Garamond"/>
                <a:sym typeface="EB Garamond"/>
              </a:rPr>
              <a:t>HOUSE PRICE PREDICTION</a:t>
            </a:r>
            <a:endParaRPr sz="1400" b="0" i="0" u="none" strike="noStrike" cap="none" dirty="0">
              <a:solidFill>
                <a:srgbClr val="000000"/>
              </a:solidFill>
              <a:latin typeface="Arial"/>
              <a:ea typeface="Arial"/>
              <a:cs typeface="Arial"/>
              <a:sym typeface="Arial"/>
            </a:endParaRPr>
          </a:p>
        </p:txBody>
      </p:sp>
      <p:sp>
        <p:nvSpPr>
          <p:cNvPr id="5" name="TextBox 4">
            <a:extLst>
              <a:ext uri="{FF2B5EF4-FFF2-40B4-BE49-F238E27FC236}">
                <a16:creationId xmlns:a16="http://schemas.microsoft.com/office/drawing/2014/main" id="{DAA6D80F-0A5E-A60A-9FD3-4330D99EA636}"/>
              </a:ext>
            </a:extLst>
          </p:cNvPr>
          <p:cNvSpPr txBox="1"/>
          <p:nvPr/>
        </p:nvSpPr>
        <p:spPr>
          <a:xfrm>
            <a:off x="213582" y="1257321"/>
            <a:ext cx="8716836" cy="3284041"/>
          </a:xfrm>
          <a:prstGeom prst="rect">
            <a:avLst/>
          </a:prstGeom>
          <a:noFill/>
        </p:spPr>
        <p:txBody>
          <a:bodyPr wrap="square">
            <a:spAutoFit/>
          </a:bodyPr>
          <a:lstStyle/>
          <a:p>
            <a:pPr marL="342900" indent="-342900">
              <a:lnSpc>
                <a:spcPct val="150000"/>
              </a:lnSpc>
              <a:buClr>
                <a:schemeClr val="tx1"/>
              </a:buClr>
              <a:buSzPct val="100000"/>
              <a:buFont typeface="+mj-lt"/>
              <a:buAutoNum type="arabicPeriod"/>
            </a:pPr>
            <a:r>
              <a:rPr lang="en-US" b="1" dirty="0" err="1"/>
              <a:t>XGBoost</a:t>
            </a:r>
            <a:r>
              <a:rPr lang="en-US" b="1" dirty="0"/>
              <a:t> and ensemble models</a:t>
            </a:r>
            <a:r>
              <a:rPr lang="en-US" dirty="0"/>
              <a:t> perform better than basic regression models because they can learn complex patterns in housing data.</a:t>
            </a:r>
          </a:p>
          <a:p>
            <a:pPr marL="342900" indent="-342900">
              <a:lnSpc>
                <a:spcPct val="150000"/>
              </a:lnSpc>
              <a:buClr>
                <a:schemeClr val="tx1"/>
              </a:buClr>
              <a:buSzPct val="100000"/>
              <a:buFont typeface="+mj-lt"/>
              <a:buAutoNum type="arabicPeriod"/>
            </a:pPr>
            <a:r>
              <a:rPr lang="en-US" b="1" dirty="0"/>
              <a:t>Preprocessing steps</a:t>
            </a:r>
            <a:r>
              <a:rPr lang="en-US" dirty="0"/>
              <a:t> like scaling, selecting important features, and handling missing values are very important for better accuracy.</a:t>
            </a:r>
          </a:p>
          <a:p>
            <a:pPr marL="342900" indent="-342900">
              <a:lnSpc>
                <a:spcPct val="150000"/>
              </a:lnSpc>
              <a:buClr>
                <a:schemeClr val="tx1"/>
              </a:buClr>
              <a:buSzPct val="100000"/>
              <a:buFont typeface="+mj-lt"/>
              <a:buAutoNum type="arabicPeriod"/>
            </a:pPr>
            <a:r>
              <a:rPr lang="en-US" dirty="0"/>
              <a:t>Many papers confirm that </a:t>
            </a:r>
            <a:r>
              <a:rPr lang="en-US" b="1" dirty="0" err="1"/>
              <a:t>XGBoost</a:t>
            </a:r>
            <a:r>
              <a:rPr lang="en-US" b="1" dirty="0"/>
              <a:t> gives higher accuracy</a:t>
            </a:r>
            <a:r>
              <a:rPr lang="en-US" dirty="0"/>
              <a:t> than models like Random Forest and Linear Regression, especially for real estate data.</a:t>
            </a:r>
          </a:p>
          <a:p>
            <a:pPr marL="342900" indent="-342900">
              <a:lnSpc>
                <a:spcPct val="150000"/>
              </a:lnSpc>
              <a:buClr>
                <a:schemeClr val="tx1"/>
              </a:buClr>
              <a:buSzPct val="100000"/>
              <a:buFont typeface="+mj-lt"/>
              <a:buAutoNum type="arabicPeriod"/>
            </a:pPr>
            <a:r>
              <a:rPr lang="en-US" dirty="0"/>
              <a:t>Real-world datasets from cities like </a:t>
            </a:r>
            <a:r>
              <a:rPr lang="en-US" b="1" dirty="0"/>
              <a:t>Karachi</a:t>
            </a:r>
            <a:r>
              <a:rPr lang="en-US" dirty="0"/>
              <a:t> and </a:t>
            </a:r>
            <a:r>
              <a:rPr lang="en-US" b="1" dirty="0"/>
              <a:t>Taiwan</a:t>
            </a:r>
            <a:r>
              <a:rPr lang="en-US" dirty="0"/>
              <a:t> show that these models work well across different locations when properly tuned.</a:t>
            </a:r>
          </a:p>
          <a:p>
            <a:pPr marL="342900" indent="-342900">
              <a:lnSpc>
                <a:spcPct val="150000"/>
              </a:lnSpc>
              <a:buClr>
                <a:schemeClr val="tx1"/>
              </a:buClr>
              <a:buSzPct val="100000"/>
              <a:buFont typeface="+mj-lt"/>
              <a:buAutoNum type="arabicPeriod"/>
            </a:pPr>
            <a:r>
              <a:rPr lang="en-US" b="1" dirty="0"/>
              <a:t>Deep learning</a:t>
            </a:r>
            <a:r>
              <a:rPr lang="en-US" dirty="0"/>
              <a:t> methods were also tested, but </a:t>
            </a:r>
            <a:r>
              <a:rPr lang="en-US" b="1" dirty="0" err="1"/>
              <a:t>XGBoost</a:t>
            </a:r>
            <a:r>
              <a:rPr lang="en-US" b="1" dirty="0"/>
              <a:t> and ensemble models</a:t>
            </a:r>
            <a:r>
              <a:rPr lang="en-US" dirty="0"/>
              <a:t> gave better results with less computation and easier tuning.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32"/>
          <p:cNvSpPr txBox="1"/>
          <p:nvPr/>
        </p:nvSpPr>
        <p:spPr>
          <a:xfrm>
            <a:off x="239029" y="673077"/>
            <a:ext cx="8143875" cy="83095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7030A0"/>
                </a:solidFill>
                <a:latin typeface="EB Garamond"/>
                <a:ea typeface="EB Garamond"/>
                <a:cs typeface="EB Garamond"/>
                <a:sym typeface="EB Garamond"/>
              </a:rPr>
              <a:t>PROPOSED SYSTEM &amp; NOVELTY IN THE PROJECT</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1" i="0" u="none" strike="noStrike" cap="none" dirty="0">
              <a:solidFill>
                <a:srgbClr val="7030A0"/>
              </a:solidFill>
              <a:latin typeface="EB Garamond"/>
              <a:ea typeface="EB Garamond"/>
              <a:cs typeface="EB Garamond"/>
              <a:sym typeface="EB Garamond"/>
            </a:endParaRPr>
          </a:p>
        </p:txBody>
      </p:sp>
      <p:sp>
        <p:nvSpPr>
          <p:cNvPr id="172" name="Google Shape;172;p32"/>
          <p:cNvSpPr txBox="1"/>
          <p:nvPr/>
        </p:nvSpPr>
        <p:spPr>
          <a:xfrm>
            <a:off x="6553200" y="4767262"/>
            <a:ext cx="2133600" cy="274637"/>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strike="noStrike" cap="none">
                <a:solidFill>
                  <a:srgbClr val="898989"/>
                </a:solidFill>
                <a:latin typeface="Calibri"/>
                <a:ea typeface="Calibri"/>
                <a:cs typeface="Calibri"/>
                <a:sym typeface="Calibri"/>
              </a:rPr>
              <a:t>12</a:t>
            </a:fld>
            <a:endParaRPr sz="1400" b="0" i="0" u="none" strike="noStrike" cap="none">
              <a:solidFill>
                <a:srgbClr val="000000"/>
              </a:solidFill>
              <a:latin typeface="Arial"/>
              <a:ea typeface="Arial"/>
              <a:cs typeface="Arial"/>
              <a:sym typeface="Arial"/>
            </a:endParaRPr>
          </a:p>
        </p:txBody>
      </p:sp>
      <p:sp>
        <p:nvSpPr>
          <p:cNvPr id="173" name="Google Shape;173;p32"/>
          <p:cNvSpPr txBox="1"/>
          <p:nvPr/>
        </p:nvSpPr>
        <p:spPr>
          <a:xfrm>
            <a:off x="0" y="0"/>
            <a:ext cx="9144000" cy="857250"/>
          </a:xfrm>
          <a:prstGeom prst="rect">
            <a:avLst/>
          </a:prstGeom>
          <a:noFill/>
          <a:ln>
            <a:noFill/>
          </a:ln>
        </p:spPr>
        <p:txBody>
          <a:bodyPr spcFirstLastPara="1" wrap="square" lIns="91425" tIns="45700" rIns="91425" bIns="45700" anchor="t" anchorCtr="0">
            <a:noAutofit/>
          </a:bodyPr>
          <a:lstStyle/>
          <a:p>
            <a:pPr lvl="0" algn="ctr">
              <a:buClr>
                <a:schemeClr val="dk2"/>
              </a:buClr>
              <a:buSzPts val="2400"/>
            </a:pPr>
            <a:r>
              <a:rPr lang="en-US" sz="2400" b="1" dirty="0">
                <a:solidFill>
                  <a:schemeClr val="dk2"/>
                </a:solidFill>
                <a:latin typeface="EB Garamond"/>
                <a:ea typeface="EB Garamond"/>
                <a:cs typeface="EB Garamond"/>
                <a:sym typeface="EB Garamond"/>
              </a:rPr>
              <a:t>HOUSE PRICE PREDICTION</a:t>
            </a:r>
            <a:endParaRPr sz="1400" b="0" i="0" u="none" strike="noStrike" cap="none" dirty="0">
              <a:solidFill>
                <a:srgbClr val="000000"/>
              </a:solidFill>
              <a:latin typeface="Arial"/>
              <a:ea typeface="Arial"/>
              <a:cs typeface="Arial"/>
              <a:sym typeface="Arial"/>
            </a:endParaRPr>
          </a:p>
        </p:txBody>
      </p:sp>
      <p:sp>
        <p:nvSpPr>
          <p:cNvPr id="3" name="TextBox 2">
            <a:extLst>
              <a:ext uri="{FF2B5EF4-FFF2-40B4-BE49-F238E27FC236}">
                <a16:creationId xmlns:a16="http://schemas.microsoft.com/office/drawing/2014/main" id="{C2EA21AE-7601-99DA-1C93-837059631D09}"/>
              </a:ext>
            </a:extLst>
          </p:cNvPr>
          <p:cNvSpPr txBox="1"/>
          <p:nvPr/>
        </p:nvSpPr>
        <p:spPr>
          <a:xfrm>
            <a:off x="335469" y="1433511"/>
            <a:ext cx="7950993" cy="3266985"/>
          </a:xfrm>
          <a:prstGeom prst="rect">
            <a:avLst/>
          </a:prstGeom>
          <a:noFill/>
        </p:spPr>
        <p:txBody>
          <a:bodyPr wrap="square">
            <a:spAutoFit/>
          </a:bodyPr>
          <a:lstStyle/>
          <a:p>
            <a:pPr marL="457200" indent="-457200">
              <a:lnSpc>
                <a:spcPct val="150000"/>
              </a:lnSpc>
              <a:buFont typeface="+mj-lt"/>
              <a:buAutoNum type="arabicPeriod"/>
            </a:pPr>
            <a:r>
              <a:rPr lang="en-IN" sz="2000" dirty="0"/>
              <a:t>Uses </a:t>
            </a:r>
            <a:r>
              <a:rPr lang="en-IN" sz="2000" b="1" dirty="0" err="1"/>
              <a:t>XGBoost</a:t>
            </a:r>
            <a:r>
              <a:rPr lang="en-IN" sz="2000" b="1" dirty="0"/>
              <a:t> Regression</a:t>
            </a:r>
            <a:r>
              <a:rPr lang="en-IN" sz="2000" dirty="0"/>
              <a:t> </a:t>
            </a:r>
            <a:r>
              <a:rPr lang="en-IN" sz="2000"/>
              <a:t>on the Housing </a:t>
            </a:r>
            <a:r>
              <a:rPr lang="en-IN" sz="2000" dirty="0"/>
              <a:t>dataset for high accuracy.</a:t>
            </a:r>
          </a:p>
          <a:p>
            <a:pPr marL="457200" indent="-457200">
              <a:lnSpc>
                <a:spcPct val="150000"/>
              </a:lnSpc>
              <a:buFont typeface="+mj-lt"/>
              <a:buAutoNum type="arabicPeriod"/>
            </a:pPr>
            <a:r>
              <a:rPr lang="en-IN" sz="2000" dirty="0"/>
              <a:t>Performs </a:t>
            </a:r>
            <a:r>
              <a:rPr lang="en-IN" sz="2000" b="1" dirty="0"/>
              <a:t>data preprocessing</a:t>
            </a:r>
            <a:r>
              <a:rPr lang="en-IN" sz="2000" dirty="0"/>
              <a:t>, including handling missing values, scaling, and encoding.</a:t>
            </a:r>
          </a:p>
          <a:p>
            <a:pPr marL="457200" indent="-457200">
              <a:lnSpc>
                <a:spcPct val="150000"/>
              </a:lnSpc>
              <a:buFont typeface="+mj-lt"/>
              <a:buAutoNum type="arabicPeriod"/>
            </a:pPr>
            <a:r>
              <a:rPr lang="en-IN" sz="2000" dirty="0"/>
              <a:t>Includes </a:t>
            </a:r>
            <a:r>
              <a:rPr lang="en-IN" sz="2000" b="1" dirty="0"/>
              <a:t>correlation heatmaps</a:t>
            </a:r>
            <a:r>
              <a:rPr lang="en-IN" sz="2000" dirty="0"/>
              <a:t> and </a:t>
            </a:r>
            <a:r>
              <a:rPr lang="en-IN" sz="2000" b="1" dirty="0"/>
              <a:t>feature importance graphs</a:t>
            </a:r>
            <a:r>
              <a:rPr lang="en-IN" sz="2000" dirty="0"/>
              <a:t>.</a:t>
            </a:r>
          </a:p>
          <a:p>
            <a:pPr marL="457200" indent="-457200">
              <a:lnSpc>
                <a:spcPct val="150000"/>
              </a:lnSpc>
              <a:buFont typeface="+mj-lt"/>
              <a:buAutoNum type="arabicPeriod"/>
            </a:pPr>
            <a:r>
              <a:rPr lang="en-IN" sz="2000" dirty="0"/>
              <a:t>Applies </a:t>
            </a:r>
            <a:r>
              <a:rPr lang="en-IN" sz="2000" b="1" dirty="0" err="1"/>
              <a:t>GridSearchCV</a:t>
            </a:r>
            <a:r>
              <a:rPr lang="en-IN" sz="2000" dirty="0"/>
              <a:t> for hyperparameter optimization.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9" name="Google Shape;179;p33"/>
          <p:cNvSpPr txBox="1"/>
          <p:nvPr/>
        </p:nvSpPr>
        <p:spPr>
          <a:xfrm>
            <a:off x="142875" y="928687"/>
            <a:ext cx="8643937" cy="46196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030A0"/>
              </a:buClr>
              <a:buSzPts val="2400"/>
              <a:buFont typeface="EB Garamond"/>
              <a:buNone/>
            </a:pPr>
            <a:r>
              <a:rPr lang="en-US" sz="2400" b="1" i="0" u="none" strike="noStrike" cap="none">
                <a:solidFill>
                  <a:srgbClr val="7030A0"/>
                </a:solidFill>
                <a:latin typeface="EB Garamond"/>
                <a:ea typeface="EB Garamond"/>
                <a:cs typeface="EB Garamond"/>
                <a:sym typeface="EB Garamond"/>
              </a:rPr>
              <a:t>Block Diagram/Flowchart:</a:t>
            </a:r>
            <a:endParaRPr sz="1400" b="0" i="0" u="none" strike="noStrike" cap="none">
              <a:solidFill>
                <a:srgbClr val="000000"/>
              </a:solidFill>
              <a:latin typeface="Arial"/>
              <a:ea typeface="Arial"/>
              <a:cs typeface="Arial"/>
              <a:sym typeface="Arial"/>
            </a:endParaRPr>
          </a:p>
        </p:txBody>
      </p:sp>
      <p:sp>
        <p:nvSpPr>
          <p:cNvPr id="180" name="Google Shape;180;p33"/>
          <p:cNvSpPr txBox="1"/>
          <p:nvPr/>
        </p:nvSpPr>
        <p:spPr>
          <a:xfrm>
            <a:off x="6553200" y="4767262"/>
            <a:ext cx="2133600" cy="274637"/>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strike="noStrike" cap="none">
                <a:solidFill>
                  <a:srgbClr val="898989"/>
                </a:solidFill>
                <a:latin typeface="Calibri"/>
                <a:ea typeface="Calibri"/>
                <a:cs typeface="Calibri"/>
                <a:sym typeface="Calibri"/>
              </a:rPr>
              <a:t>13</a:t>
            </a:fld>
            <a:endParaRPr sz="1400" b="0" i="0" u="none" strike="noStrike" cap="none">
              <a:solidFill>
                <a:srgbClr val="000000"/>
              </a:solidFill>
              <a:latin typeface="Arial"/>
              <a:ea typeface="Arial"/>
              <a:cs typeface="Arial"/>
              <a:sym typeface="Arial"/>
            </a:endParaRPr>
          </a:p>
        </p:txBody>
      </p:sp>
      <p:sp>
        <p:nvSpPr>
          <p:cNvPr id="181" name="Google Shape;181;p33"/>
          <p:cNvSpPr txBox="1"/>
          <p:nvPr/>
        </p:nvSpPr>
        <p:spPr>
          <a:xfrm>
            <a:off x="0" y="0"/>
            <a:ext cx="9144000" cy="857250"/>
          </a:xfrm>
          <a:prstGeom prst="rect">
            <a:avLst/>
          </a:prstGeom>
          <a:noFill/>
          <a:ln>
            <a:noFill/>
          </a:ln>
        </p:spPr>
        <p:txBody>
          <a:bodyPr spcFirstLastPara="1" wrap="square" lIns="91425" tIns="45700" rIns="91425" bIns="45700" anchor="t" anchorCtr="0">
            <a:noAutofit/>
          </a:bodyPr>
          <a:lstStyle/>
          <a:p>
            <a:pPr lvl="0" algn="ctr">
              <a:buClr>
                <a:schemeClr val="dk2"/>
              </a:buClr>
              <a:buSzPts val="2400"/>
            </a:pPr>
            <a:r>
              <a:rPr lang="en-US" sz="2400" b="1" dirty="0">
                <a:solidFill>
                  <a:schemeClr val="dk2"/>
                </a:solidFill>
                <a:latin typeface="EB Garamond"/>
                <a:ea typeface="EB Garamond"/>
                <a:cs typeface="EB Garamond"/>
                <a:sym typeface="EB Garamond"/>
              </a:rPr>
              <a:t>HOUSE PRICE PREDICTION</a:t>
            </a:r>
            <a:endParaRPr sz="1400" b="0" i="0" u="none" strike="noStrike" cap="none" dirty="0">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C52E7474-ADB5-C068-1E0D-CE113902A7E3}"/>
              </a:ext>
            </a:extLst>
          </p:cNvPr>
          <p:cNvPicPr>
            <a:picLocks noChangeAspect="1"/>
          </p:cNvPicPr>
          <p:nvPr/>
        </p:nvPicPr>
        <p:blipFill>
          <a:blip r:embed="rId3"/>
          <a:stretch>
            <a:fillRect/>
          </a:stretch>
        </p:blipFill>
        <p:spPr>
          <a:xfrm>
            <a:off x="0" y="1587441"/>
            <a:ext cx="9144000" cy="298302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9"/>
          <p:cNvSpPr txBox="1"/>
          <p:nvPr/>
        </p:nvSpPr>
        <p:spPr>
          <a:xfrm>
            <a:off x="142875" y="928687"/>
            <a:ext cx="8501062" cy="46196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030A0"/>
              </a:buClr>
              <a:buSzPts val="2400"/>
              <a:buFont typeface="EB Garamond"/>
              <a:buNone/>
            </a:pPr>
            <a:r>
              <a:rPr lang="en-US" sz="2400" b="1" i="0" u="none" strike="noStrike" cap="none" dirty="0">
                <a:solidFill>
                  <a:srgbClr val="7030A0"/>
                </a:solidFill>
                <a:latin typeface="EB Garamond"/>
                <a:ea typeface="EB Garamond"/>
                <a:cs typeface="EB Garamond"/>
                <a:sym typeface="EB Garamond"/>
              </a:rPr>
              <a:t>Requirements (Hardware/Software):</a:t>
            </a:r>
            <a:endParaRPr sz="1400" b="0" i="0" u="none" strike="noStrike" cap="none" dirty="0">
              <a:solidFill>
                <a:srgbClr val="000000"/>
              </a:solidFill>
              <a:latin typeface="Arial"/>
              <a:ea typeface="Arial"/>
              <a:cs typeface="Arial"/>
              <a:sym typeface="Arial"/>
            </a:endParaRPr>
          </a:p>
        </p:txBody>
      </p:sp>
      <p:sp>
        <p:nvSpPr>
          <p:cNvPr id="195" name="Google Shape;195;p9"/>
          <p:cNvSpPr txBox="1"/>
          <p:nvPr/>
        </p:nvSpPr>
        <p:spPr>
          <a:xfrm>
            <a:off x="6553200" y="4767262"/>
            <a:ext cx="2133600" cy="274637"/>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strike="noStrike" cap="none">
                <a:solidFill>
                  <a:srgbClr val="898989"/>
                </a:solidFill>
                <a:latin typeface="Calibri"/>
                <a:ea typeface="Calibri"/>
                <a:cs typeface="Calibri"/>
                <a:sym typeface="Calibri"/>
              </a:rPr>
              <a:t>14</a:t>
            </a:fld>
            <a:endParaRPr sz="1400" b="0" i="0" u="none" strike="noStrike" cap="none">
              <a:solidFill>
                <a:srgbClr val="000000"/>
              </a:solidFill>
              <a:latin typeface="Arial"/>
              <a:ea typeface="Arial"/>
              <a:cs typeface="Arial"/>
              <a:sym typeface="Arial"/>
            </a:endParaRPr>
          </a:p>
        </p:txBody>
      </p:sp>
      <p:sp>
        <p:nvSpPr>
          <p:cNvPr id="196" name="Google Shape;196;p9"/>
          <p:cNvSpPr txBox="1"/>
          <p:nvPr/>
        </p:nvSpPr>
        <p:spPr>
          <a:xfrm>
            <a:off x="0" y="0"/>
            <a:ext cx="9144000" cy="857250"/>
          </a:xfrm>
          <a:prstGeom prst="rect">
            <a:avLst/>
          </a:prstGeom>
          <a:noFill/>
          <a:ln>
            <a:noFill/>
          </a:ln>
        </p:spPr>
        <p:txBody>
          <a:bodyPr spcFirstLastPara="1" wrap="square" lIns="91425" tIns="45700" rIns="91425" bIns="45700" anchor="t" anchorCtr="0">
            <a:noAutofit/>
          </a:bodyPr>
          <a:lstStyle/>
          <a:p>
            <a:pPr lvl="0" algn="ctr">
              <a:buClr>
                <a:schemeClr val="dk2"/>
              </a:buClr>
              <a:buSzPts val="2400"/>
            </a:pPr>
            <a:r>
              <a:rPr lang="en-US" sz="2400" b="1" dirty="0">
                <a:solidFill>
                  <a:schemeClr val="dk2"/>
                </a:solidFill>
                <a:latin typeface="EB Garamond"/>
                <a:ea typeface="EB Garamond"/>
                <a:cs typeface="EB Garamond"/>
                <a:sym typeface="EB Garamond"/>
              </a:rPr>
              <a:t>HOUSE PRICE PREDICTION</a:t>
            </a:r>
            <a:endParaRPr sz="1400" b="0" i="0" u="none" strike="noStrike" cap="none" dirty="0">
              <a:solidFill>
                <a:srgbClr val="000000"/>
              </a:solidFill>
              <a:latin typeface="Arial"/>
              <a:ea typeface="Arial"/>
              <a:cs typeface="Arial"/>
              <a:sym typeface="Arial"/>
            </a:endParaRPr>
          </a:p>
        </p:txBody>
      </p:sp>
      <p:sp>
        <p:nvSpPr>
          <p:cNvPr id="3" name="TextBox 2">
            <a:extLst>
              <a:ext uri="{FF2B5EF4-FFF2-40B4-BE49-F238E27FC236}">
                <a16:creationId xmlns:a16="http://schemas.microsoft.com/office/drawing/2014/main" id="{B300047C-84AD-D502-80B5-3E278509E775}"/>
              </a:ext>
            </a:extLst>
          </p:cNvPr>
          <p:cNvSpPr txBox="1"/>
          <p:nvPr/>
        </p:nvSpPr>
        <p:spPr>
          <a:xfrm>
            <a:off x="142875" y="1462086"/>
            <a:ext cx="7950993" cy="3170099"/>
          </a:xfrm>
          <a:prstGeom prst="rect">
            <a:avLst/>
          </a:prstGeom>
          <a:noFill/>
        </p:spPr>
        <p:txBody>
          <a:bodyPr wrap="square">
            <a:spAutoFit/>
          </a:bodyPr>
          <a:lstStyle/>
          <a:p>
            <a:pPr>
              <a:buNone/>
            </a:pPr>
            <a:r>
              <a:rPr lang="en-IN" sz="2000" b="1" dirty="0"/>
              <a:t>Software Requirements:</a:t>
            </a:r>
          </a:p>
          <a:p>
            <a:pPr marL="342900" indent="-342900">
              <a:buFont typeface="+mj-lt"/>
              <a:buAutoNum type="arabicPeriod"/>
            </a:pPr>
            <a:r>
              <a:rPr lang="en-IN" sz="2000" dirty="0"/>
              <a:t>Python 3.10+</a:t>
            </a:r>
          </a:p>
          <a:p>
            <a:pPr marL="342900" indent="-342900">
              <a:buFont typeface="+mj-lt"/>
              <a:buAutoNum type="arabicPeriod"/>
            </a:pPr>
            <a:r>
              <a:rPr lang="en-IN" sz="2000" dirty="0" err="1"/>
              <a:t>Jupyter</a:t>
            </a:r>
            <a:r>
              <a:rPr lang="en-IN" sz="2000" dirty="0"/>
              <a:t> Notebook / Google </a:t>
            </a:r>
            <a:r>
              <a:rPr lang="en-IN" sz="2000" dirty="0" err="1"/>
              <a:t>Colab</a:t>
            </a:r>
            <a:endParaRPr lang="en-IN" sz="2000" dirty="0"/>
          </a:p>
          <a:p>
            <a:pPr marL="342900" indent="-342900">
              <a:buFont typeface="+mj-lt"/>
              <a:buAutoNum type="arabicPeriod"/>
            </a:pPr>
            <a:r>
              <a:rPr lang="en-IN" sz="2000" dirty="0"/>
              <a:t>Libraries: pandas, </a:t>
            </a:r>
            <a:r>
              <a:rPr lang="en-IN" sz="2000" dirty="0" err="1"/>
              <a:t>numpy</a:t>
            </a:r>
            <a:r>
              <a:rPr lang="en-IN" sz="2000" dirty="0"/>
              <a:t>, seaborn, matplotlib, scikit-learn, </a:t>
            </a:r>
            <a:r>
              <a:rPr lang="en-IN" sz="2000" dirty="0" err="1"/>
              <a:t>xgboost</a:t>
            </a:r>
            <a:endParaRPr lang="en-IN" sz="2000" dirty="0"/>
          </a:p>
          <a:p>
            <a:endParaRPr lang="en-IN" sz="2000" dirty="0"/>
          </a:p>
          <a:p>
            <a:endParaRPr lang="en-IN" sz="2000" dirty="0"/>
          </a:p>
          <a:p>
            <a:pPr>
              <a:buNone/>
            </a:pPr>
            <a:r>
              <a:rPr lang="en-IN" sz="2000" b="1" dirty="0"/>
              <a:t>Hardware Requirements:</a:t>
            </a:r>
          </a:p>
          <a:p>
            <a:pPr marL="342900" indent="-342900">
              <a:buFont typeface="+mj-lt"/>
              <a:buAutoNum type="arabicPeriod"/>
            </a:pPr>
            <a:r>
              <a:rPr lang="en-IN" sz="2000" dirty="0"/>
              <a:t>Laptop or PC with minimum 4 GB RAM</a:t>
            </a:r>
          </a:p>
          <a:p>
            <a:pPr marL="342900" indent="-342900">
              <a:buFont typeface="+mj-lt"/>
              <a:buAutoNum type="arabicPeriod"/>
            </a:pPr>
            <a:r>
              <a:rPr lang="en-IN" sz="2000" dirty="0"/>
              <a:t>Internet connection (for dataset access and packages)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4"/>
          <p:cNvSpPr>
            <a:spLocks noChangeArrowheads="1"/>
          </p:cNvSpPr>
          <p:nvPr/>
        </p:nvSpPr>
        <p:spPr bwMode="auto">
          <a:xfrm>
            <a:off x="80093" y="488524"/>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IN" altLang="en-US" sz="2400" dirty="0">
                <a:solidFill>
                  <a:srgbClr val="7030A0"/>
                </a:solidFill>
                <a:latin typeface="Adobe Garamond Pro Bold" pitchFamily="18" charset="0"/>
              </a:rPr>
              <a:t>Work Plan:</a:t>
            </a:r>
          </a:p>
        </p:txBody>
      </p:sp>
      <p:sp>
        <p:nvSpPr>
          <p:cNvPr id="7171" name="Slide Number Placeholder 5"/>
          <p:cNvSpPr>
            <a:spLocks noGrp="1" noChangeArrowheads="1"/>
          </p:cNvSpPr>
          <p:nvPr>
            <p:ph type="sldNum" sz="quarter" idx="12"/>
          </p:nvPr>
        </p:nvSpPr>
        <p:spPr bwMode="auto">
          <a:xfrm>
            <a:off x="6975475" y="4889500"/>
            <a:ext cx="2133600" cy="2746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4D0E7F70-CD63-47FF-994D-BDBE47800F81}" type="slidenum">
              <a:rPr lang="en-IN" altLang="en-US" sz="1200">
                <a:solidFill>
                  <a:srgbClr val="898989"/>
                </a:solidFill>
              </a:rPr>
              <a:pPr>
                <a:spcBef>
                  <a:spcPct val="0"/>
                </a:spcBef>
                <a:buFontTx/>
                <a:buNone/>
              </a:pPr>
              <a:t>15</a:t>
            </a:fld>
            <a:endParaRPr lang="en-IN" altLang="en-US" sz="1200">
              <a:solidFill>
                <a:srgbClr val="898989"/>
              </a:solidFill>
            </a:endParaRPr>
          </a:p>
        </p:txBody>
      </p:sp>
      <p:graphicFrame>
        <p:nvGraphicFramePr>
          <p:cNvPr id="7" name="Table 6"/>
          <p:cNvGraphicFramePr>
            <a:graphicFrameLocks noGrp="1"/>
          </p:cNvGraphicFramePr>
          <p:nvPr>
            <p:extLst>
              <p:ext uri="{D42A27DB-BD31-4B8C-83A1-F6EECF244321}">
                <p14:modId xmlns:p14="http://schemas.microsoft.com/office/powerpoint/2010/main" val="3432630681"/>
              </p:ext>
            </p:extLst>
          </p:nvPr>
        </p:nvGraphicFramePr>
        <p:xfrm>
          <a:off x="142875" y="1214438"/>
          <a:ext cx="8893175" cy="3668061"/>
        </p:xfrm>
        <a:graphic>
          <a:graphicData uri="http://schemas.openxmlformats.org/drawingml/2006/table">
            <a:tbl>
              <a:tblPr firstRow="1" bandRow="1">
                <a:tableStyleId>{BC89EF96-8CEA-46FF-86C4-4CE0E7609802}</a:tableStyleId>
              </a:tblPr>
              <a:tblGrid>
                <a:gridCol w="1548727">
                  <a:extLst>
                    <a:ext uri="{9D8B030D-6E8A-4147-A177-3AD203B41FA5}">
                      <a16:colId xmlns:a16="http://schemas.microsoft.com/office/drawing/2014/main" val="20000"/>
                    </a:ext>
                  </a:extLst>
                </a:gridCol>
                <a:gridCol w="7344448">
                  <a:extLst>
                    <a:ext uri="{9D8B030D-6E8A-4147-A177-3AD203B41FA5}">
                      <a16:colId xmlns:a16="http://schemas.microsoft.com/office/drawing/2014/main" val="20001"/>
                    </a:ext>
                  </a:extLst>
                </a:gridCol>
              </a:tblGrid>
              <a:tr h="493661">
                <a:tc>
                  <a:txBody>
                    <a:bodyPr/>
                    <a:lstStyle/>
                    <a:p>
                      <a:pPr algn="ctr">
                        <a:lnSpc>
                          <a:spcPct val="100000"/>
                        </a:lnSpc>
                      </a:pPr>
                      <a:r>
                        <a:rPr lang="en-IN" sz="1800" dirty="0">
                          <a:latin typeface="Adobe Garamond Pro Bold" pitchFamily="18" charset="0"/>
                        </a:rPr>
                        <a:t>Period</a:t>
                      </a:r>
                    </a:p>
                  </a:txBody>
                  <a:tcPr marL="91434" marR="91434"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pPr>
                      <a:r>
                        <a:rPr lang="en-IN" sz="1800" dirty="0">
                          <a:latin typeface="Adobe Garamond Pro Bold" pitchFamily="18" charset="0"/>
                        </a:rPr>
                        <a:t>Scheduled Activity</a:t>
                      </a:r>
                    </a:p>
                  </a:txBody>
                  <a:tcPr marL="91434" marR="91434"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493661">
                <a:tc>
                  <a:txBody>
                    <a:bodyPr/>
                    <a:lstStyle/>
                    <a:p>
                      <a:pPr algn="ctr">
                        <a:lnSpc>
                          <a:spcPct val="100000"/>
                        </a:lnSpc>
                        <a:spcAft>
                          <a:spcPts val="0"/>
                        </a:spcAft>
                      </a:pPr>
                      <a:r>
                        <a:rPr lang="en-US" sz="1600" dirty="0">
                          <a:latin typeface="Adobe Garamond Pro Bold" pitchFamily="18" charset="0"/>
                        </a:rPr>
                        <a:t>Week 1</a:t>
                      </a:r>
                      <a:endParaRPr lang="en-IN" sz="1600" dirty="0">
                        <a:latin typeface="Adobe Garamond Pro Bold" pitchFamily="18" charset="0"/>
                        <a:ea typeface="Times New Roman"/>
                        <a:cs typeface="Times New Roman"/>
                      </a:endParaRPr>
                    </a:p>
                  </a:txBody>
                  <a:tcPr marL="68577" marR="6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0000"/>
                        </a:lnSpc>
                        <a:spcAft>
                          <a:spcPts val="0"/>
                        </a:spcAft>
                      </a:pPr>
                      <a:r>
                        <a:rPr lang="en-US" sz="1600" dirty="0"/>
                        <a:t>Study the Housing dataset and define the problem. Understand features and target (house price).</a:t>
                      </a:r>
                      <a:endParaRPr lang="en-IN" sz="1600" dirty="0">
                        <a:latin typeface="Adobe Garamond Pro Bold" pitchFamily="18" charset="0"/>
                        <a:ea typeface="Times New Roman"/>
                        <a:cs typeface="Times New Roman"/>
                      </a:endParaRPr>
                    </a:p>
                  </a:txBody>
                  <a:tcPr marL="68577" marR="6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93661">
                <a:tc>
                  <a:txBody>
                    <a:bodyPr/>
                    <a:lstStyle/>
                    <a:p>
                      <a:pPr algn="ctr">
                        <a:lnSpc>
                          <a:spcPct val="100000"/>
                        </a:lnSpc>
                        <a:spcAft>
                          <a:spcPts val="0"/>
                        </a:spcAft>
                      </a:pPr>
                      <a:r>
                        <a:rPr lang="en-US" sz="1600" dirty="0">
                          <a:latin typeface="Adobe Garamond Pro Bold" pitchFamily="18" charset="0"/>
                        </a:rPr>
                        <a:t>Week 2</a:t>
                      </a:r>
                      <a:endParaRPr lang="en-IN" sz="1600" dirty="0">
                        <a:latin typeface="Adobe Garamond Pro Bold" pitchFamily="18" charset="0"/>
                        <a:ea typeface="Times New Roman"/>
                        <a:cs typeface="Times New Roman"/>
                      </a:endParaRPr>
                    </a:p>
                  </a:txBody>
                  <a:tcPr marL="68577" marR="6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0000"/>
                        </a:lnSpc>
                        <a:spcAft>
                          <a:spcPts val="0"/>
                        </a:spcAft>
                      </a:pPr>
                      <a:r>
                        <a:rPr lang="en-US" sz="1600" dirty="0"/>
                        <a:t>Perform Exploratory Data Analysis (EDA) to find patterns, correlations, and key influencing factors.</a:t>
                      </a:r>
                      <a:endParaRPr lang="en-IN" sz="1600" dirty="0">
                        <a:latin typeface="Adobe Garamond Pro Bold" pitchFamily="18" charset="0"/>
                        <a:ea typeface="Times New Roman"/>
                        <a:cs typeface="Times New Roman"/>
                      </a:endParaRPr>
                    </a:p>
                  </a:txBody>
                  <a:tcPr marL="68577" marR="6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93661">
                <a:tc>
                  <a:txBody>
                    <a:bodyPr/>
                    <a:lstStyle/>
                    <a:p>
                      <a:pPr algn="ctr">
                        <a:lnSpc>
                          <a:spcPct val="100000"/>
                        </a:lnSpc>
                        <a:spcAft>
                          <a:spcPts val="0"/>
                        </a:spcAft>
                      </a:pPr>
                      <a:r>
                        <a:rPr lang="en-US" sz="1600" dirty="0">
                          <a:latin typeface="Adobe Garamond Pro Bold" pitchFamily="18" charset="0"/>
                        </a:rPr>
                        <a:t>Week 3</a:t>
                      </a:r>
                      <a:endParaRPr lang="en-IN" sz="1600" dirty="0">
                        <a:latin typeface="Adobe Garamond Pro Bold" pitchFamily="18" charset="0"/>
                        <a:ea typeface="Times New Roman"/>
                        <a:cs typeface="Times New Roman"/>
                      </a:endParaRPr>
                    </a:p>
                  </a:txBody>
                  <a:tcPr marL="68577" marR="6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t>Preprocess data: handle missing values, scale features, and select important variables for training.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14419">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dirty="0">
                          <a:latin typeface="Adobe Garamond Pro Bold" pitchFamily="18" charset="0"/>
                        </a:rPr>
                        <a:t>Week 4</a:t>
                      </a:r>
                      <a:endParaRPr lang="en-IN" sz="1600" dirty="0">
                        <a:latin typeface="Adobe Garamond Pro Bold" pitchFamily="18" charset="0"/>
                        <a:ea typeface="Times New Roman"/>
                        <a:cs typeface="Times New Roman"/>
                      </a:endParaRPr>
                    </a:p>
                  </a:txBody>
                  <a:tcPr marL="68577" marR="6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0000"/>
                        </a:lnSpc>
                        <a:spcAft>
                          <a:spcPts val="0"/>
                        </a:spcAft>
                      </a:pPr>
                      <a:r>
                        <a:rPr lang="en-US" sz="1600" dirty="0"/>
                        <a:t>Train the </a:t>
                      </a:r>
                      <a:r>
                        <a:rPr lang="en-US" sz="1600" dirty="0" err="1"/>
                        <a:t>XGBoost</a:t>
                      </a:r>
                      <a:r>
                        <a:rPr lang="en-US" sz="1600" dirty="0"/>
                        <a:t> regression model and evaluate it using performance metrics like R², MAE, and RMSE.</a:t>
                      </a:r>
                      <a:endParaRPr lang="en-IN" sz="1600" dirty="0">
                        <a:latin typeface="Adobe Garamond Pro Bold" pitchFamily="18" charset="0"/>
                        <a:ea typeface="Times New Roman"/>
                        <a:cs typeface="Times New Roman"/>
                      </a:endParaRPr>
                    </a:p>
                  </a:txBody>
                  <a:tcPr marL="68577" marR="6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1441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latin typeface="Adobe Garamond Pro Bold" pitchFamily="18" charset="0"/>
                        </a:rPr>
                        <a:t>Week 5</a:t>
                      </a:r>
                      <a:endParaRPr lang="en-IN" sz="1600" dirty="0">
                        <a:latin typeface="Adobe Garamond Pro Bold" pitchFamily="18" charset="0"/>
                        <a:ea typeface="Times New Roman"/>
                        <a:cs typeface="Times New Roman"/>
                      </a:endParaRPr>
                    </a:p>
                  </a:txBody>
                  <a:tcPr marL="68577" marR="6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t>Tune the model using </a:t>
                      </a:r>
                      <a:r>
                        <a:rPr lang="en-US" sz="1600" dirty="0" err="1"/>
                        <a:t>GridSearchCV</a:t>
                      </a:r>
                      <a:r>
                        <a:rPr lang="en-US" sz="1600" dirty="0"/>
                        <a:t> to find the best parameters and improve accuracy.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51441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latin typeface="Adobe Garamond Pro Bold" pitchFamily="18" charset="0"/>
                        </a:rPr>
                        <a:t>Week 6</a:t>
                      </a:r>
                      <a:endParaRPr lang="en-IN" sz="1600" dirty="0">
                        <a:latin typeface="Adobe Garamond Pro Bold" pitchFamily="18" charset="0"/>
                        <a:ea typeface="Times New Roman"/>
                        <a:cs typeface="Times New Roman"/>
                      </a:endParaRPr>
                    </a:p>
                  </a:txBody>
                  <a:tcPr marL="68577" marR="6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0000"/>
                        </a:lnSpc>
                        <a:spcAft>
                          <a:spcPts val="0"/>
                        </a:spcAft>
                      </a:pPr>
                      <a:r>
                        <a:rPr lang="en-US" sz="1600" dirty="0"/>
                        <a:t>Analyze final results using feature importance.</a:t>
                      </a:r>
                      <a:endParaRPr lang="en-IN" sz="1600" dirty="0">
                        <a:latin typeface="Adobe Garamond Pro Bold" pitchFamily="18" charset="0"/>
                        <a:ea typeface="Times New Roman"/>
                        <a:cs typeface="Times New Roman"/>
                      </a:endParaRPr>
                    </a:p>
                  </a:txBody>
                  <a:tcPr marL="68577" marR="6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
        <p:nvSpPr>
          <p:cNvPr id="7198" name="Subtitle 2"/>
          <p:cNvSpPr txBox="1">
            <a:spLocks/>
          </p:cNvSpPr>
          <p:nvPr/>
        </p:nvSpPr>
        <p:spPr bwMode="auto">
          <a:xfrm>
            <a:off x="17462" y="26198"/>
            <a:ext cx="9144000" cy="585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0" algn="ctr">
              <a:spcBef>
                <a:spcPts val="0"/>
              </a:spcBef>
              <a:buClr>
                <a:schemeClr val="dk2"/>
              </a:buClr>
              <a:buSzPts val="2400"/>
              <a:buNone/>
            </a:pPr>
            <a:r>
              <a:rPr lang="en-US" sz="2400" b="1" dirty="0">
                <a:solidFill>
                  <a:schemeClr val="dk2"/>
                </a:solidFill>
                <a:latin typeface="EB Garamond"/>
                <a:ea typeface="EB Garamond"/>
                <a:cs typeface="EB Garamond"/>
                <a:sym typeface="EB Garamond"/>
              </a:rPr>
              <a:t>HOUSE PRICE PREDICTION</a:t>
            </a:r>
            <a:endParaRPr lang="en-US" sz="1400" dirty="0">
              <a:solidFill>
                <a:srgbClr val="000000"/>
              </a:solidFill>
              <a:latin typeface="Arial"/>
            </a:endParaRPr>
          </a:p>
        </p:txBody>
      </p:sp>
    </p:spTree>
    <p:extLst>
      <p:ext uri="{BB962C8B-B14F-4D97-AF65-F5344CB8AC3E}">
        <p14:creationId xmlns:p14="http://schemas.microsoft.com/office/powerpoint/2010/main" val="3307819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15"/>
          <p:cNvSpPr txBox="1"/>
          <p:nvPr/>
        </p:nvSpPr>
        <p:spPr>
          <a:xfrm>
            <a:off x="321469" y="428625"/>
            <a:ext cx="8501062" cy="492438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030A0"/>
              </a:buClr>
              <a:buSzPts val="2400"/>
              <a:buFont typeface="EB Garamond"/>
              <a:buNone/>
            </a:pPr>
            <a:r>
              <a:rPr lang="en-US" sz="2400" b="1" i="0" u="none" strike="noStrike" cap="none" dirty="0">
                <a:solidFill>
                  <a:srgbClr val="7030A0"/>
                </a:solidFill>
                <a:latin typeface="EB Garamond"/>
                <a:ea typeface="EB Garamond"/>
                <a:cs typeface="EB Garamond"/>
                <a:sym typeface="EB Garamond"/>
              </a:rPr>
              <a:t>References:</a:t>
            </a:r>
          </a:p>
          <a:p>
            <a:pPr marL="0" marR="0" lvl="0" indent="0" algn="l" rtl="0">
              <a:lnSpc>
                <a:spcPct val="100000"/>
              </a:lnSpc>
              <a:spcBef>
                <a:spcPts val="0"/>
              </a:spcBef>
              <a:spcAft>
                <a:spcPts val="0"/>
              </a:spcAft>
              <a:buClr>
                <a:srgbClr val="7030A0"/>
              </a:buClr>
              <a:buSzPts val="2400"/>
              <a:buFont typeface="EB Garamond"/>
              <a:buNone/>
            </a:pPr>
            <a:endParaRPr b="0" i="0" u="none" strike="noStrike" cap="none" dirty="0">
              <a:solidFill>
                <a:srgbClr val="000000"/>
              </a:solidFill>
              <a:latin typeface="Arial"/>
              <a:ea typeface="Arial"/>
              <a:cs typeface="Arial"/>
              <a:sym typeface="Arial"/>
            </a:endParaRPr>
          </a:p>
          <a:p>
            <a:pPr marL="342900" indent="-342900">
              <a:buFont typeface="+mj-lt"/>
              <a:buAutoNum type="arabicPeriod"/>
            </a:pPr>
            <a:r>
              <a:rPr lang="en-IN" dirty="0">
                <a:latin typeface="EB Garamond" panose="00000500000000000000" pitchFamily="2" charset="0"/>
                <a:ea typeface="EB Garamond" panose="00000500000000000000" pitchFamily="2" charset="0"/>
              </a:rPr>
              <a:t>Kexin Chen and Jianhui Huang, “Research on the Design and Application of House Price Prediction Algorithms and Model Based on Machine </a:t>
            </a:r>
            <a:r>
              <a:rPr lang="en-IN" dirty="0" err="1">
                <a:latin typeface="EB Garamond" panose="00000500000000000000" pitchFamily="2" charset="0"/>
                <a:ea typeface="EB Garamond" panose="00000500000000000000" pitchFamily="2" charset="0"/>
              </a:rPr>
              <a:t>Learning,”</a:t>
            </a:r>
            <a:r>
              <a:rPr lang="en-IN" i="1" dirty="0" err="1">
                <a:latin typeface="EB Garamond" panose="00000500000000000000" pitchFamily="2" charset="0"/>
                <a:ea typeface="EB Garamond" panose="00000500000000000000" pitchFamily="2" charset="0"/>
              </a:rPr>
              <a:t>International</a:t>
            </a:r>
            <a:r>
              <a:rPr lang="en-IN" i="1" dirty="0">
                <a:latin typeface="EB Garamond" panose="00000500000000000000" pitchFamily="2" charset="0"/>
                <a:ea typeface="EB Garamond" panose="00000500000000000000" pitchFamily="2" charset="0"/>
              </a:rPr>
              <a:t> Conference on Internet of Things, Robotics and Distributed Computing</a:t>
            </a:r>
            <a:r>
              <a:rPr lang="en-IN" dirty="0">
                <a:latin typeface="EB Garamond" panose="00000500000000000000" pitchFamily="2" charset="0"/>
                <a:ea typeface="EB Garamond" panose="00000500000000000000" pitchFamily="2" charset="0"/>
              </a:rPr>
              <a:t>, pp. 144–147, October 2023.</a:t>
            </a:r>
          </a:p>
          <a:p>
            <a:pPr marL="342900" indent="-342900">
              <a:buFont typeface="+mj-lt"/>
              <a:buAutoNum type="arabicPeriod"/>
            </a:pPr>
            <a:endParaRPr lang="en-IN" dirty="0">
              <a:latin typeface="EB Garamond" panose="00000500000000000000" pitchFamily="2" charset="0"/>
              <a:ea typeface="EB Garamond" panose="00000500000000000000" pitchFamily="2" charset="0"/>
            </a:endParaRPr>
          </a:p>
          <a:p>
            <a:pPr marL="342900" indent="-342900">
              <a:buFont typeface="+mj-lt"/>
              <a:buAutoNum type="arabicPeriod"/>
            </a:pPr>
            <a:r>
              <a:rPr lang="en-IN" dirty="0" err="1">
                <a:latin typeface="EB Garamond" panose="00000500000000000000" pitchFamily="2" charset="0"/>
                <a:ea typeface="EB Garamond" panose="00000500000000000000" pitchFamily="2" charset="0"/>
              </a:rPr>
              <a:t>Ajmeera</a:t>
            </a:r>
            <a:r>
              <a:rPr lang="en-IN" dirty="0">
                <a:latin typeface="EB Garamond" panose="00000500000000000000" pitchFamily="2" charset="0"/>
                <a:ea typeface="EB Garamond" panose="00000500000000000000" pitchFamily="2" charset="0"/>
              </a:rPr>
              <a:t> Kiran, Mudassir Khan, J. Chinna Babu, B. P. Santosh Kumar and Sheik Jamil Ahmed, “</a:t>
            </a:r>
            <a:r>
              <a:rPr lang="en-IN" dirty="0" err="1">
                <a:latin typeface="EB Garamond" panose="00000500000000000000" pitchFamily="2" charset="0"/>
                <a:ea typeface="EB Garamond" panose="00000500000000000000" pitchFamily="2" charset="0"/>
              </a:rPr>
              <a:t>Modeling</a:t>
            </a:r>
            <a:r>
              <a:rPr lang="en-IN" dirty="0">
                <a:latin typeface="EB Garamond" panose="00000500000000000000" pitchFamily="2" charset="0"/>
                <a:ea typeface="EB Garamond" panose="00000500000000000000" pitchFamily="2" charset="0"/>
              </a:rPr>
              <a:t> House Price Prediction Model using </a:t>
            </a:r>
            <a:r>
              <a:rPr lang="en-IN" dirty="0" err="1">
                <a:latin typeface="EB Garamond" panose="00000500000000000000" pitchFamily="2" charset="0"/>
                <a:ea typeface="EB Garamond" panose="00000500000000000000" pitchFamily="2" charset="0"/>
              </a:rPr>
              <a:t>XGBoost</a:t>
            </a:r>
            <a:r>
              <a:rPr lang="en-IN" dirty="0">
                <a:latin typeface="EB Garamond" panose="00000500000000000000" pitchFamily="2" charset="0"/>
                <a:ea typeface="EB Garamond" panose="00000500000000000000" pitchFamily="2" charset="0"/>
              </a:rPr>
              <a:t> and Machine Learning </a:t>
            </a:r>
            <a:r>
              <a:rPr lang="en-IN" dirty="0" err="1">
                <a:latin typeface="EB Garamond" panose="00000500000000000000" pitchFamily="2" charset="0"/>
                <a:ea typeface="EB Garamond" panose="00000500000000000000" pitchFamily="2" charset="0"/>
              </a:rPr>
              <a:t>Algorithms,”</a:t>
            </a:r>
            <a:r>
              <a:rPr lang="en-IN" i="1" dirty="0" err="1">
                <a:latin typeface="EB Garamond" panose="00000500000000000000" pitchFamily="2" charset="0"/>
                <a:ea typeface="EB Garamond" panose="00000500000000000000" pitchFamily="2" charset="0"/>
              </a:rPr>
              <a:t>International</a:t>
            </a:r>
            <a:r>
              <a:rPr lang="en-IN" i="1" dirty="0">
                <a:latin typeface="EB Garamond" panose="00000500000000000000" pitchFamily="2" charset="0"/>
                <a:ea typeface="EB Garamond" panose="00000500000000000000" pitchFamily="2" charset="0"/>
              </a:rPr>
              <a:t> Conference on New Frontiers in Communication, Automation, Management and Security</a:t>
            </a:r>
            <a:r>
              <a:rPr lang="en-IN" dirty="0">
                <a:latin typeface="EB Garamond" panose="00000500000000000000" pitchFamily="2" charset="0"/>
                <a:ea typeface="EB Garamond" panose="00000500000000000000" pitchFamily="2" charset="0"/>
              </a:rPr>
              <a:t>, pp. 124–129, November 2023.</a:t>
            </a:r>
          </a:p>
          <a:p>
            <a:pPr marL="342900" indent="-342900">
              <a:buFont typeface="+mj-lt"/>
              <a:buAutoNum type="arabicPeriod"/>
            </a:pPr>
            <a:endParaRPr lang="en-IN" dirty="0">
              <a:latin typeface="EB Garamond" panose="00000500000000000000" pitchFamily="2" charset="0"/>
              <a:ea typeface="EB Garamond" panose="00000500000000000000" pitchFamily="2" charset="0"/>
            </a:endParaRPr>
          </a:p>
          <a:p>
            <a:pPr marL="342900" indent="-342900">
              <a:buFont typeface="+mj-lt"/>
              <a:buAutoNum type="arabicPeriod"/>
            </a:pPr>
            <a:r>
              <a:rPr lang="en-IN" dirty="0">
                <a:latin typeface="EB Garamond" panose="00000500000000000000" pitchFamily="2" charset="0"/>
                <a:ea typeface="EB Garamond" panose="00000500000000000000" pitchFamily="2" charset="0"/>
              </a:rPr>
              <a:t>Aman Chaurasia and Inam Ul Haq, “Housing Price Prediction Model Using Machine </a:t>
            </a:r>
            <a:r>
              <a:rPr lang="en-IN" dirty="0" err="1">
                <a:latin typeface="EB Garamond" panose="00000500000000000000" pitchFamily="2" charset="0"/>
                <a:ea typeface="EB Garamond" panose="00000500000000000000" pitchFamily="2" charset="0"/>
              </a:rPr>
              <a:t>Learning,”</a:t>
            </a:r>
            <a:r>
              <a:rPr lang="en-IN" i="1" dirty="0" err="1">
                <a:latin typeface="EB Garamond" panose="00000500000000000000" pitchFamily="2" charset="0"/>
                <a:ea typeface="EB Garamond" panose="00000500000000000000" pitchFamily="2" charset="0"/>
              </a:rPr>
              <a:t>International</a:t>
            </a:r>
            <a:r>
              <a:rPr lang="en-IN" i="1" dirty="0">
                <a:latin typeface="EB Garamond" panose="00000500000000000000" pitchFamily="2" charset="0"/>
                <a:ea typeface="EB Garamond" panose="00000500000000000000" pitchFamily="2" charset="0"/>
              </a:rPr>
              <a:t> Conference on Sustainable Emerging Innovations in Engineering and Technology ,</a:t>
            </a:r>
            <a:r>
              <a:rPr lang="en-IN" dirty="0">
                <a:latin typeface="EB Garamond" panose="00000500000000000000" pitchFamily="2" charset="0"/>
                <a:ea typeface="EB Garamond" panose="00000500000000000000" pitchFamily="2" charset="0"/>
              </a:rPr>
              <a:t>pp. 652–656, August 2023.</a:t>
            </a:r>
          </a:p>
          <a:p>
            <a:pPr marL="342900" indent="-342900">
              <a:buFont typeface="+mj-lt"/>
              <a:buAutoNum type="arabicPeriod"/>
            </a:pPr>
            <a:endParaRPr lang="en-IN" dirty="0">
              <a:latin typeface="EB Garamond" panose="00000500000000000000" pitchFamily="2" charset="0"/>
              <a:ea typeface="EB Garamond" panose="00000500000000000000" pitchFamily="2" charset="0"/>
            </a:endParaRPr>
          </a:p>
          <a:p>
            <a:pPr marL="342900" indent="-342900">
              <a:buFont typeface="+mj-lt"/>
              <a:buAutoNum type="arabicPeriod"/>
            </a:pPr>
            <a:r>
              <a:rPr lang="en-IN" dirty="0">
                <a:latin typeface="EB Garamond" panose="00000500000000000000" pitchFamily="2" charset="0"/>
                <a:ea typeface="EB Garamond" panose="00000500000000000000" pitchFamily="2" charset="0"/>
              </a:rPr>
              <a:t>Maida </a:t>
            </a:r>
            <a:r>
              <a:rPr lang="en-IN" dirty="0" err="1">
                <a:latin typeface="EB Garamond" panose="00000500000000000000" pitchFamily="2" charset="0"/>
                <a:ea typeface="EB Garamond" panose="00000500000000000000" pitchFamily="2" charset="0"/>
              </a:rPr>
              <a:t>Ahtesham</a:t>
            </a:r>
            <a:r>
              <a:rPr lang="en-IN" dirty="0">
                <a:latin typeface="EB Garamond" panose="00000500000000000000" pitchFamily="2" charset="0"/>
                <a:ea typeface="EB Garamond" panose="00000500000000000000" pitchFamily="2" charset="0"/>
              </a:rPr>
              <a:t>, Narmeen Zakaria Bawany and Kiran Fatima, “House Price Prediction using Machine Learning Algorithm - The Case of Karachi City, Pakistan,”2</a:t>
            </a:r>
            <a:r>
              <a:rPr lang="en-IN" i="1" dirty="0">
                <a:latin typeface="EB Garamond" panose="00000500000000000000" pitchFamily="2" charset="0"/>
                <a:ea typeface="EB Garamond" panose="00000500000000000000" pitchFamily="2" charset="0"/>
              </a:rPr>
              <a:t>1st International Arab Conference on Information Technology ,</a:t>
            </a:r>
            <a:r>
              <a:rPr lang="en-IN" dirty="0">
                <a:latin typeface="EB Garamond" panose="00000500000000000000" pitchFamily="2" charset="0"/>
                <a:ea typeface="EB Garamond" panose="00000500000000000000" pitchFamily="2" charset="0"/>
              </a:rPr>
              <a:t>pp. 1–6, November 2020.</a:t>
            </a:r>
          </a:p>
          <a:p>
            <a:pPr marL="342900" indent="-342900">
              <a:buFont typeface="+mj-lt"/>
              <a:buAutoNum type="arabicPeriod"/>
            </a:pPr>
            <a:endParaRPr lang="en-IN" dirty="0">
              <a:latin typeface="EB Garamond" panose="00000500000000000000" pitchFamily="2" charset="0"/>
              <a:ea typeface="EB Garamond" panose="00000500000000000000" pitchFamily="2" charset="0"/>
            </a:endParaRPr>
          </a:p>
          <a:p>
            <a:pPr marL="342900" indent="-342900">
              <a:buFont typeface="+mj-lt"/>
              <a:buAutoNum type="arabicPeriod"/>
            </a:pPr>
            <a:r>
              <a:rPr lang="en-IN" dirty="0" err="1">
                <a:latin typeface="EB Garamond" panose="00000500000000000000" pitchFamily="2" charset="0"/>
                <a:ea typeface="EB Garamond" panose="00000500000000000000" pitchFamily="2" charset="0"/>
              </a:rPr>
              <a:t>Choujun</a:t>
            </a:r>
            <a:r>
              <a:rPr lang="en-IN" dirty="0">
                <a:latin typeface="EB Garamond" panose="00000500000000000000" pitchFamily="2" charset="0"/>
                <a:ea typeface="EB Garamond" panose="00000500000000000000" pitchFamily="2" charset="0"/>
              </a:rPr>
              <a:t> Zhan, </a:t>
            </a:r>
            <a:r>
              <a:rPr lang="en-IN" dirty="0" err="1">
                <a:latin typeface="EB Garamond" panose="00000500000000000000" pitchFamily="2" charset="0"/>
                <a:ea typeface="EB Garamond" panose="00000500000000000000" pitchFamily="2" charset="0"/>
              </a:rPr>
              <a:t>Zeqiong</a:t>
            </a:r>
            <a:r>
              <a:rPr lang="en-IN" dirty="0">
                <a:latin typeface="EB Garamond" panose="00000500000000000000" pitchFamily="2" charset="0"/>
                <a:ea typeface="EB Garamond" panose="00000500000000000000" pitchFamily="2" charset="0"/>
              </a:rPr>
              <a:t> Wu, </a:t>
            </a:r>
            <a:r>
              <a:rPr lang="en-IN" dirty="0" err="1">
                <a:latin typeface="EB Garamond" panose="00000500000000000000" pitchFamily="2" charset="0"/>
                <a:ea typeface="EB Garamond" panose="00000500000000000000" pitchFamily="2" charset="0"/>
              </a:rPr>
              <a:t>Yonglin</a:t>
            </a:r>
            <a:r>
              <a:rPr lang="en-IN" dirty="0">
                <a:latin typeface="EB Garamond" panose="00000500000000000000" pitchFamily="2" charset="0"/>
                <a:ea typeface="EB Garamond" panose="00000500000000000000" pitchFamily="2" charset="0"/>
              </a:rPr>
              <a:t> Liu, </a:t>
            </a:r>
            <a:r>
              <a:rPr lang="en-IN" dirty="0" err="1">
                <a:latin typeface="EB Garamond" panose="00000500000000000000" pitchFamily="2" charset="0"/>
                <a:ea typeface="EB Garamond" panose="00000500000000000000" pitchFamily="2" charset="0"/>
              </a:rPr>
              <a:t>Zefeng</a:t>
            </a:r>
            <a:r>
              <a:rPr lang="en-IN" dirty="0">
                <a:latin typeface="EB Garamond" panose="00000500000000000000" pitchFamily="2" charset="0"/>
                <a:ea typeface="EB Garamond" panose="00000500000000000000" pitchFamily="2" charset="0"/>
              </a:rPr>
              <a:t> Xie and Wangling Chen, “Housing prices prediction with deep learning: an application for the real estate market in </a:t>
            </a:r>
            <a:r>
              <a:rPr lang="en-IN" dirty="0" err="1">
                <a:latin typeface="EB Garamond" panose="00000500000000000000" pitchFamily="2" charset="0"/>
                <a:ea typeface="EB Garamond" panose="00000500000000000000" pitchFamily="2" charset="0"/>
              </a:rPr>
              <a:t>Taiwan,”</a:t>
            </a:r>
            <a:r>
              <a:rPr lang="en-IN" i="1" dirty="0" err="1">
                <a:latin typeface="EB Garamond" panose="00000500000000000000" pitchFamily="2" charset="0"/>
                <a:ea typeface="EB Garamond" panose="00000500000000000000" pitchFamily="2" charset="0"/>
              </a:rPr>
              <a:t>IEEE</a:t>
            </a:r>
            <a:r>
              <a:rPr lang="en-IN" i="1" dirty="0">
                <a:latin typeface="EB Garamond" panose="00000500000000000000" pitchFamily="2" charset="0"/>
                <a:ea typeface="EB Garamond" panose="00000500000000000000" pitchFamily="2" charset="0"/>
              </a:rPr>
              <a:t> 18th International Conference on Industrial Informatics ,</a:t>
            </a:r>
            <a:r>
              <a:rPr lang="en-IN" dirty="0">
                <a:latin typeface="EB Garamond" panose="00000500000000000000" pitchFamily="2" charset="0"/>
                <a:ea typeface="EB Garamond" panose="00000500000000000000" pitchFamily="2" charset="0"/>
              </a:rPr>
              <a:t>pp. 1101–1106, July 2020.</a:t>
            </a:r>
          </a:p>
          <a:p>
            <a:pPr marL="0" marR="0" lvl="0" indent="0" algn="l" rtl="0">
              <a:lnSpc>
                <a:spcPct val="100000"/>
              </a:lnSpc>
              <a:spcBef>
                <a:spcPts val="0"/>
              </a:spcBef>
              <a:spcAft>
                <a:spcPts val="0"/>
              </a:spcAft>
              <a:buClr>
                <a:srgbClr val="000000"/>
              </a:buClr>
              <a:buSzPts val="2400"/>
              <a:buFont typeface="Arial"/>
              <a:buNone/>
            </a:pPr>
            <a:endParaRPr sz="2400" b="1" i="0" u="none" strike="noStrike" cap="none" dirty="0">
              <a:solidFill>
                <a:srgbClr val="7030A0"/>
              </a:solidFill>
              <a:latin typeface="EB Garamond"/>
              <a:ea typeface="EB Garamond"/>
              <a:cs typeface="EB Garamond"/>
              <a:sym typeface="EB Garamond"/>
            </a:endParaRPr>
          </a:p>
        </p:txBody>
      </p:sp>
      <p:sp>
        <p:nvSpPr>
          <p:cNvPr id="210" name="Google Shape;210;p15"/>
          <p:cNvSpPr txBox="1"/>
          <p:nvPr/>
        </p:nvSpPr>
        <p:spPr>
          <a:xfrm>
            <a:off x="6553200" y="4767262"/>
            <a:ext cx="2133600" cy="274637"/>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strike="noStrike" cap="none">
                <a:solidFill>
                  <a:srgbClr val="898989"/>
                </a:solidFill>
                <a:latin typeface="Calibri"/>
                <a:ea typeface="Calibri"/>
                <a:cs typeface="Calibri"/>
                <a:sym typeface="Calibri"/>
              </a:rPr>
              <a:t>16</a:t>
            </a:fld>
            <a:endParaRPr sz="1400" b="0" i="0" u="none" strike="noStrike" cap="none">
              <a:solidFill>
                <a:srgbClr val="000000"/>
              </a:solidFill>
              <a:latin typeface="Arial"/>
              <a:ea typeface="Arial"/>
              <a:cs typeface="Arial"/>
              <a:sym typeface="Arial"/>
            </a:endParaRPr>
          </a:p>
        </p:txBody>
      </p:sp>
      <p:sp>
        <p:nvSpPr>
          <p:cNvPr id="211" name="Google Shape;211;p15"/>
          <p:cNvSpPr txBox="1"/>
          <p:nvPr/>
        </p:nvSpPr>
        <p:spPr>
          <a:xfrm>
            <a:off x="0" y="0"/>
            <a:ext cx="9144000" cy="857250"/>
          </a:xfrm>
          <a:prstGeom prst="rect">
            <a:avLst/>
          </a:prstGeom>
          <a:noFill/>
          <a:ln>
            <a:noFill/>
          </a:ln>
        </p:spPr>
        <p:txBody>
          <a:bodyPr spcFirstLastPara="1" wrap="square" lIns="91425" tIns="45700" rIns="91425" bIns="45700" anchor="t" anchorCtr="0">
            <a:noAutofit/>
          </a:bodyPr>
          <a:lstStyle/>
          <a:p>
            <a:pPr lvl="0" algn="ctr">
              <a:buClr>
                <a:schemeClr val="dk2"/>
              </a:buClr>
              <a:buSzPts val="2400"/>
            </a:pPr>
            <a:r>
              <a:rPr lang="en-US" sz="2400" b="1" dirty="0">
                <a:solidFill>
                  <a:schemeClr val="dk2"/>
                </a:solidFill>
                <a:latin typeface="EB Garamond"/>
                <a:ea typeface="EB Garamond"/>
                <a:cs typeface="EB Garamond"/>
                <a:sym typeface="EB Garamond"/>
              </a:rPr>
              <a:t>HOUSE PRICE PREDICTION</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Mini Project Presentatio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820</TotalTime>
  <Words>1347</Words>
  <Application>Microsoft Office PowerPoint</Application>
  <PresentationFormat>On-screen Show (16:9)</PresentationFormat>
  <Paragraphs>189</Paragraphs>
  <Slides>16</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EB Garamond</vt:lpstr>
      <vt:lpstr>Adobe Garamond Pro Bold</vt:lpstr>
      <vt:lpstr>Mini Project Presentation</vt:lpstr>
      <vt:lpstr>VEL TECH HIGH TECH  Dr. RANGARAJAN Dr. SAKUNTHALA ENGINEERING COLLEGE An Autonomous Institution Department of Computer Science and Engineering  (Artificial Intelligence and Machine Learning)  Mini Project - Zeroth Review Date: 30.06.2025                    HOUSE PRICE PREDICTION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VEL TECH HIGH TECH  Dr. RANGARAJAN Dr. SAKUNTHALA ENGINEERING COLLEGE An Autonomous Institution Department of Computer Science and Engineering  (Artificial Intelligence and Machine Learning)  21EE01P/02P - Mini Project - Zeroth Review Date:  TITLE OF THE PROJECT    </dc:title>
  <dc:creator>Priya</dc:creator>
  <cp:lastModifiedBy>Santhi V</cp:lastModifiedBy>
  <cp:revision>20</cp:revision>
  <dcterms:created xsi:type="dcterms:W3CDTF">2021-09-25T07:01:39Z</dcterms:created>
  <dcterms:modified xsi:type="dcterms:W3CDTF">2025-07-01T12:15:39Z</dcterms:modified>
</cp:coreProperties>
</file>